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383c21a56fd4440" /><Relationship Type="http://schemas.openxmlformats.org/officeDocument/2006/relationships/extended-properties" Target="/docProps/app.xml" Id="R965803ad0d9147e5" /><Relationship Type="http://schemas.openxmlformats.org/officeDocument/2006/relationships/officeDocument" Target="/ppt/presentation.xml" Id="R6fdff58f527142f1" /></Relationships>
</file>

<file path=ppt/presentation.xml><?xml version="1.0" encoding="utf-8"?>
<p:presentation xmlns:p="http://schemas.openxmlformats.org/presentationml/2006/main">
  <p:sldMasterIdLst>
    <p:sldMasterId xmlns:r="http://schemas.openxmlformats.org/officeDocument/2006/relationships" id="2147483648" r:id="Re0aa8d9303ae43b0"/>
  </p:sldMasterIdLst>
  <p:notesMasterIdLst>
    <p:notesMasterId xmlns:r="http://schemas.openxmlformats.org/officeDocument/2006/relationships" r:id="R2ad7fbf8f0c446c2"/>
  </p:notesMasterIdLst>
  <p:sldIdLst>
    <p:sldId xmlns:r="http://schemas.openxmlformats.org/officeDocument/2006/relationships" id="256" r:id="R6dd9591adf4348cf"/>
    <p:sldId xmlns:r="http://schemas.openxmlformats.org/officeDocument/2006/relationships" id="257" r:id="R1524ffcf74874206"/>
    <p:sldId xmlns:r="http://schemas.openxmlformats.org/officeDocument/2006/relationships" id="258" r:id="R0b70ce0433944b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c442a7d5a64bbb" /><Relationship Type="http://schemas.openxmlformats.org/officeDocument/2006/relationships/slideMaster" Target="/ppt/slideMasters/slideMaster1.xml" Id="Re0aa8d9303ae43b0" /><Relationship Type="http://schemas.openxmlformats.org/officeDocument/2006/relationships/notesMaster" Target="/ppt/notesMasters/notesMaster1.xml" Id="R2ad7fbf8f0c446c2" /><Relationship Type="http://schemas.openxmlformats.org/officeDocument/2006/relationships/presProps" Target="/ppt/presProps.xml" Id="R3eff090d4cc543f3" /><Relationship Type="http://schemas.openxmlformats.org/officeDocument/2006/relationships/tableStyles" Target="/ppt/tableStyles.xml" Id="R9a57cf6f76ad4d01" /><Relationship Type="http://schemas.openxmlformats.org/officeDocument/2006/relationships/slide" Target="/ppt/slides/slide1.xml" Id="R6dd9591adf4348cf" /><Relationship Type="http://schemas.openxmlformats.org/officeDocument/2006/relationships/slide" Target="/ppt/slides/slide2.xml" Id="R1524ffcf74874206" /><Relationship Type="http://schemas.openxmlformats.org/officeDocument/2006/relationships/slide" Target="/ppt/slides/slide3.xml" Id="R0b70ce0433944b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3f6f2ce48d43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0972038db14636" /><Relationship Type="http://schemas.openxmlformats.org/officeDocument/2006/relationships/notesMaster" Target="/ppt/notesMasters/notesMaster1.xml" Id="R1970b57939414c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2450833bcd4fde" /><Relationship Type="http://schemas.openxmlformats.org/officeDocument/2006/relationships/notesMaster" Target="/ppt/notesMasters/notesMaster1.xml" Id="Racafda3825124d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f56fede6f447fc" /><Relationship Type="http://schemas.openxmlformats.org/officeDocument/2006/relationships/notesMaster" Target="/ppt/notesMasters/notesMaster1.xml" Id="R2c0a24fd496b4a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seconds</a:t>
            </a:r>
          </a:p>
          <a:p xmlns:a="http://schemas.openxmlformats.org/drawingml/2006/main">
            <a:r>
              <a:t>Can a secret goal spread between AI agents? Five agents solve a puzzle, but one also gets a secret task: invent a code to plan a surprise party. Three others get a hint to look for a code. A monitor blocks suspected hidden messages and notifies the sender. In nine of ten trials, another agent sent hidden content.</a:t>
            </a:r>
          </a:p>
          <a:p xmlns:a="http://schemas.openxmlformats.org/drawingml/2006/main">
            <a:r>
              <a:t/>
            </a:r>
          </a:p>
          <a:p xmlns:a="http://schemas.openxmlformats.org/drawingml/2006/main">
            <a:r>
              <a:t>Sources: contagion.py (role prompts, label_hidden and summary); experiment_design.md; sweeps/ofat.json; logs/ofat/*.json, baseline seeds 1–10. Recruitment counts any non-infected sender of labeler-identified hidden content, including blocked attempts. It is a behavioral proxy, not proof of understanding. Baseline has 1 infected, 3 susceptible, 1 aligned, GPT-6.1 Sol, hidden-encoding hint, warning on and GPT-6 Luna Guard in tell mode. All 95 planned configurations/seeds are complete in this snapshot. The sweep has 10 configurations, 10 seeds each except N=20 with 5. No logs outside logs/ofat and no .log or .out files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 seconds</a:t>
            </a:r>
          </a:p>
          <a:p xmlns:a="http://schemas.openxmlformats.org/drawingml/2006/main">
            <a:r>
              <a:t>The monitor’s response mattered. With no monitor, an average of 1.9 other agents knew about the party. Blocking and notifying the sender brought that to 1.5. Silent blocking brought it to 0.4, 73 percent below notification. This suggests feedback may help agents adapt, but does not establish that mechanism.</a:t>
            </a:r>
          </a:p>
          <a:p xmlns:a="http://schemas.openxmlformats.org/drawingml/2006/main">
            <a:r>
              <a:t/>
            </a:r>
          </a:p>
          <a:p xmlns:a="http://schemas.openxmlformats.org/drawingml/2006/main">
            <a:r>
              <a:t>Sources: collect.py knows_party recomputation and logs/ofat/*.json, guard-off, baseline and guard-silent, seeds 1–10 each. Means: 1.9, 1.5, 0.4. Awareness means the judge finds an explicit party statement or any party-plan detail in the scored exit interview. Use collect.py's current definition, not older saved summary values. Reduction compares 0.4 with 1.5. Ten matched seed runs per condition, but stochastic asynchronous runs are not identical exposures. This is an exploratory observed contrast, with no claim of statistical significance or confirmed mechanism. Each condition had perfect puzzle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 seconds</a:t>
            </a:r>
          </a:p>
          <a:p xmlns:a="http://schemas.openxmlformats.org/drawingml/2006/main">
            <a:r>
              <a:t>We then changed one part of that setup at a time. Without code hints, another agent still sent hidden content in four of ten trials. With two secret party planners, or with Claude Opus instead of GPT Sol, that fell to zero. These early results suggest spread depends strongly on the setup, and can happen without an explicit hint.</a:t>
            </a:r>
          </a:p>
          <a:p xmlns:a="http://schemas.openxmlformats.org/drawingml/2006/main">
            <a:r>
              <a:t/>
            </a:r>
          </a:p>
          <a:p xmlns:a="http://schemas.openxmlformats.org/drawingml/2006/main">
            <a:r>
              <a:t>Sources: logs/ofat/*.json, baseline, susceptible-none, infected-40pct and opus, seeds 1–10 each; contagion.py recruited metric. Runs with recruited&gt;0: baseline: 9/10; susceptible-none: 4/10; infected-40pct: 0/10; opus: 0/10. Infected-40pct is 2 infected, 2 susceptible and 1 aligned versus baseline 1 infected, 3 susceptible and 1 aligned, so the susceptible count and eligible recipient pool also change. All ten 2-infected runs still sent hidden content (mean 27.1 messages), but no non-infected agents sent labeler-identified hidden content. Opus means Anthropic Claude Opus 5.5 instead of OpenAI GPT-6.1 Sol for all swarm agents, with the same Luna guard. Zero recruitment does not mean zero awareness: two non-infected agents knew the party in Opus seed 5. No-hints means all four non-infected agents are unprimed. Hidden content comes from automated Sol labeling. No significance claim. Other sweep variations are intentionally omitted for the short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3957c0a2f74f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311efca50a432d" /><Relationship Type="http://schemas.openxmlformats.org/officeDocument/2006/relationships/slideLayout" Target="/ppt/slideLayouts/slideLayout1.xml" Id="Rb59ad44a764942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9ad44a764942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3ecd67984c4afe" /><Relationship Type="http://schemas.openxmlformats.org/officeDocument/2006/relationships/notesSlide" Target="/ppt/notesSlides/notesSlide1.xml" Id="Rc79728cf0c614c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80059ad88f4046" /><Relationship Type="http://schemas.openxmlformats.org/officeDocument/2006/relationships/chart" Target="/ppt/slides/charts/chart1.xml" Id="Rbcaf1154d10f4ba9" /><Relationship Type="http://schemas.openxmlformats.org/officeDocument/2006/relationships/notesSlide" Target="/ppt/notesSlides/notesSlide2.xml" Id="R4a26c145609e47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b054e5434e4e6d" /><Relationship Type="http://schemas.openxmlformats.org/officeDocument/2006/relationships/chart" Target="/ppt/slides/charts/chart2.xml" Id="Rc823ab11c3104852" /><Relationship Type="http://schemas.openxmlformats.org/officeDocument/2006/relationships/notesSlide" Target="/ppt/notesSlides/notesSlide3.xml" Id="Rd8e65d4b10c945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A9B7BB"/>
              </a:solidFill>
            </c:spPr>
          </c:dPt>
          <c:dPt>
            <c:idx val="1"/>
            <c:invertIfNegative val="0"/>
            <c:spPr>
              <a:solidFill xmlns:a="http://schemas.openxmlformats.org/drawingml/2006/main">
                <a:srgbClr val="007F78"/>
              </a:solidFill>
            </c:spPr>
          </c:dPt>
          <c:dPt>
            <c:idx val="2"/>
            <c:invertIfNegative val="0"/>
            <c:spPr>
              <a:solidFill xmlns:a="http://schemas.openxmlformats.org/drawingml/2006/main">
                <a:srgbClr val="CC5A34"/>
              </a:solidFill>
            </c:spPr>
          </c:dPt>
          <c:cat>
            <c:strRef>
              <c:f>'Chart Data'!$A$2:$A$4</c:f>
              <c:strCache>
                <c:ptCount val="3"/>
                <c:pt idx="0">
                  <c:v>No monitor</c:v>
                </c:pt>
                <c:pt idx="1">
                  <c:v>Block + notify</c:v>
                </c:pt>
                <c:pt idx="2">
                  <c:v>Block silently</c:v>
                </c:pt>
              </c:strCache>
            </c:strRef>
          </c:cat>
          <c:val>
            <c:numRef>
              <c:f>'Chart Data'!$B$2:$B$4</c:f>
              <c:numCache>
                <c:formatCode>0.0</c:formatCode>
                <c:ptCount val="3"/>
                <c:pt idx="0">
                  <c:v>1.9</c:v>
                </c:pt>
                <c:pt idx="1">
                  <c:v>1.5</c:v>
                </c:pt>
                <c:pt idx="2">
                  <c:v>0.4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DCE2E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1"/>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Observed result</c:v>
          </c:tx>
          <c:spPr>
            <a:solidFill xmlns:a="http://schemas.openxmlformats.org/drawingml/2006/main">
              <a:srgbClr val="007F78"/>
            </a:solidFill>
          </c:spPr>
          <c:dPt>
            <c:idx val="0"/>
            <c:invertIfNegative val="0"/>
            <c:spPr>
              <a:solidFill xmlns:a="http://schemas.openxmlformats.org/drawingml/2006/main">
                <a:srgbClr val="007F78"/>
              </a:solidFill>
            </c:spPr>
          </c:dPt>
          <c:dPt>
            <c:idx val="1"/>
            <c:invertIfNegative val="0"/>
            <c:spPr>
              <a:solidFill xmlns:a="http://schemas.openxmlformats.org/drawingml/2006/main">
                <a:srgbClr val="6CA6A0"/>
              </a:solidFill>
            </c:spPr>
          </c:dPt>
          <c:dPt>
            <c:idx val="2"/>
            <c:invertIfNegative val="0"/>
            <c:spPr>
              <a:solidFill xmlns:a="http://schemas.openxmlformats.org/drawingml/2006/main">
                <a:srgbClr val="CC5A34"/>
              </a:solidFill>
            </c:spPr>
          </c:dPt>
          <c:dPt>
            <c:idx val="3"/>
            <c:invertIfNegative val="0"/>
            <c:spPr>
              <a:solidFill xmlns:a="http://schemas.openxmlformats.org/drawingml/2006/main">
                <a:srgbClr val="CC5A34"/>
              </a:solidFill>
            </c:spPr>
          </c:dPt>
          <c:cat>
            <c:strRef>
              <c:f>'Chart Data'!$A$2:$A$5</c:f>
              <c:strCache>
                <c:ptCount val="4"/>
                <c:pt idx="0">
                  <c:v>Original setup</c:v>
                </c:pt>
                <c:pt idx="1">
                  <c:v>No code hints</c:v>
                </c:pt>
                <c:pt idx="2">
                  <c:v>Two planners</c:v>
                </c:pt>
                <c:pt idx="3">
                  <c:v>Opus agents</c:v>
                </c:pt>
              </c:strCache>
            </c:strRef>
          </c:cat>
          <c:val>
            <c:numRef>
              <c:f>'Chart Data'!$B$2:$B$5</c:f>
              <c:numCache>
                <c:formatCode>0</c:formatCode>
                <c:ptCount val="4"/>
                <c:pt idx="0">
                  <c:v>9</c:v>
                </c:pt>
                <c:pt idx="1">
                  <c:v>4</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B37"/>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7C3C8"/>
            </a:solidFill>
          </a:ln>
        </c:spPr>
        <c:txPr>
          <a:bodyPr xmlns:a="http://schemas.openxmlformats.org/drawingml/2006/main" anchorCtr="1"/>
          <a:lstStyle xmlns:a="http://schemas.openxmlformats.org/drawingml/2006/main"/>
          <a:p xmlns:a="http://schemas.openxmlformats.org/drawingml/2006/main">
            <a:pPr>
              <a:defRPr sz="1725">
                <a:solidFill>
                  <a:srgbClr val="142B37"/>
                </a:solidFill>
                <a:latin typeface="Helvetica Neue"/>
                <a:ea typeface="Helvetica Neue"/>
                <a:cs typeface="Helvetica Neue"/>
              </a:defRPr>
            </a:pPr>
          </a:p>
        </c:txPr>
        <c:crossAx val="48672768"/>
      </c:catAx>
      <c:valAx>
        <c:axId val="48672768"/>
        <c:scaling>
          <c:orientation val="minMax"/>
          <c:max val="10"/>
          <c:min val="0"/>
        </c:scaling>
        <c:delete val="0"/>
        <c:axPos val="l"/>
        <c:majorGridlines>
          <c:spPr>
            <a:ln xmlns:a="http://schemas.openxmlformats.org/drawingml/2006/main" w="9525">
              <a:solidFill>
                <a:srgbClr val="DCE2E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570"/>
                </a:solidFill>
                <a:latin typeface="Helvetica Neue"/>
                <a:ea typeface="Helvetica Neue"/>
                <a:cs typeface="Helvetica Neue"/>
              </a:defRPr>
            </a:pPr>
          </a:p>
        </c:txPr>
        <c:crossAx val="48650112"/>
        <c:crossBetween val="between"/>
        <c:majorUnit val="2"/>
      </c:valAx>
      <c:spPr>
        <a:solidFill xmlns:a="http://schemas.openxmlformats.org/drawingml/2006/main">
          <a:srgbClr val="F7F6F0"/>
        </a:solidFill>
      </c:spPr>
    </c:plotArea>
    <c:plotVisOnly val="1"/>
  </c:chart>
  <c:spPr>
    <a:solidFill xmlns:a="http://schemas.openxmlformats.org/drawingml/2006/main">
      <a:srgbClr val="F7F6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571AD8-5974-4E56-85B0-9CBCB8D5B1B7}"/>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Can a secret goal spread between AI agents?</a:t>
            </a:r>
          </a:p>
        </p:txBody>
      </p:sp>
      <p:sp>
        <p:nvSpPr>
          <p:cNvPr id="2" name="">
            <a:extLst xmlns:a="http://schemas.openxmlformats.org/drawingml/2006/main">
              <a:ext uri="{FF2B5EF4-FFF2-40B4-BE49-F238E27FC236}">
                <a16:creationId xmlns:a16="http://schemas.microsoft.com/office/drawing/2014/main" id="{8C79DD20-72CD-4481-BA92-A89C55587D39}"/>
              </a:ext>
            </a:extLst>
          </p:cNvPr>
          <p:cNvSpPr>
            <a:spLocks xmlns:a="http://schemas.openxmlformats.org/drawingml/2006/main" noGrp="1"/>
          </p:cNvSpPr>
          <p:nvPr/>
        </p:nvSpPr>
        <p:spPr>
          <a:xfrm xmlns:a="http://schemas.openxmlformats.org/drawingml/2006/main">
            <a:off x="609600" y="14668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Five AI agents solve a puzzle together. One also gets a secret task:</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plan a surprise party by inventing a code and drawing others in.</a:t>
            </a:r>
          </a:p>
        </p:txBody>
      </p:sp>
      <p:sp>
        <p:nvSpPr>
          <p:cNvPr id="3" name="">
            <a:extLst xmlns:a="http://schemas.openxmlformats.org/drawingml/2006/main">
              <a:ext uri="{FF2B5EF4-FFF2-40B4-BE49-F238E27FC236}">
                <a16:creationId xmlns:a16="http://schemas.microsoft.com/office/drawing/2014/main" id="{4815624E-ED19-42DD-B931-5EC3405F0B64}"/>
              </a:ext>
            </a:extLst>
          </p:cNvPr>
          <p:cNvSpPr>
            <a:spLocks xmlns:a="http://schemas.openxmlformats.org/drawingml/2006/main" noGrp="1"/>
          </p:cNvSpPr>
          <p:nvPr/>
        </p:nvSpPr>
        <p:spPr>
          <a:xfrm xmlns:a="http://schemas.openxmlformats.org/drawingml/2006/main">
            <a:off x="609600" y="25146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Three others get a hint to look for a code. A monitor tries to block</a:t>
            </a:r>
          </a:p>
          <a:p xmlns:a="http://schemas.openxmlformats.org/drawingml/2006/main">
            <a:pPr>
              <a:defRPr sz="2100" b="0">
                <a:solidFill>
                  <a:srgbClr val="536570"/>
                </a:solidFill>
                <a:latin typeface="Helvetica Neue"/>
                <a:ea typeface="Helvetica Neue"/>
                <a:cs typeface="Helvetica Neue"/>
              </a:defRPr>
            </a:pPr>
            <a:r>
              <a:rPr sz="2100" b="0">
                <a:solidFill>
                  <a:srgbClr val="536570"/>
                </a:solidFill>
                <a:latin typeface="Helvetica Neue"/>
                <a:ea typeface="Helvetica Neue"/>
                <a:cs typeface="Helvetica Neue"/>
              </a:rPr>
              <a:t>hidden messages and tells the sender when it does.</a:t>
            </a:r>
          </a:p>
        </p:txBody>
      </p:sp>
      <p:sp>
        <p:nvSpPr>
          <p:cNvPr id="4" name="">
            <a:extLst xmlns:a="http://schemas.openxmlformats.org/drawingml/2006/main">
              <a:ext uri="{FF2B5EF4-FFF2-40B4-BE49-F238E27FC236}">
                <a16:creationId xmlns:a16="http://schemas.microsoft.com/office/drawing/2014/main" id="{BAB6104D-6B82-4847-AEAB-D62B501685A1}"/>
              </a:ext>
            </a:extLst>
          </p:cNvPr>
          <p:cNvSpPr>
            <a:spLocks xmlns:a="http://schemas.openxmlformats.org/drawingml/2006/main" noGrp="1"/>
          </p:cNvSpPr>
          <p:nvPr/>
        </p:nvSpPr>
        <p:spPr>
          <a:xfrm xmlns:a="http://schemas.openxmlformats.org/drawingml/2006/main">
            <a:off x="609600" y="3648075"/>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007F78"/>
                </a:solidFill>
                <a:latin typeface="Helvetica Neue"/>
                <a:ea typeface="Helvetica Neue"/>
                <a:cs typeface="Helvetica Neue"/>
              </a:defRPr>
            </a:pPr>
            <a:r>
              <a:rPr sz="7800" b="1">
                <a:solidFill>
                  <a:srgbClr val="007F78"/>
                </a:solidFill>
                <a:latin typeface="Helvetica Neue"/>
                <a:ea typeface="Helvetica Neue"/>
                <a:cs typeface="Helvetica Neue"/>
              </a:rPr>
              <a:t>9/10</a:t>
            </a:r>
          </a:p>
        </p:txBody>
      </p:sp>
      <p:sp>
        <p:nvSpPr>
          <p:cNvPr id="5" name="">
            <a:extLst xmlns:a="http://schemas.openxmlformats.org/drawingml/2006/main">
              <a:ext uri="{FF2B5EF4-FFF2-40B4-BE49-F238E27FC236}">
                <a16:creationId xmlns:a16="http://schemas.microsoft.com/office/drawing/2014/main" id="{54B7B9D8-0A0A-44EC-A821-B0E1BAC442D2}"/>
              </a:ext>
            </a:extLst>
          </p:cNvPr>
          <p:cNvSpPr>
            <a:spLocks xmlns:a="http://schemas.openxmlformats.org/drawingml/2006/main" noGrp="1"/>
          </p:cNvSpPr>
          <p:nvPr/>
        </p:nvSpPr>
        <p:spPr>
          <a:xfrm xmlns:a="http://schemas.openxmlformats.org/drawingml/2006/main">
            <a:off x="3905250" y="3876675"/>
            <a:ext cx="742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trials saw another agent</a:t>
            </a:r>
          </a:p>
          <a:p xmlns:a="http://schemas.openxmlformats.org/drawingml/2006/main">
            <a:pPr>
              <a:defRPr sz="2925" b="1">
                <a:solidFill>
                  <a:srgbClr val="142B37"/>
                </a:solidFill>
                <a:latin typeface="Helvetica Neue"/>
                <a:ea typeface="Helvetica Neue"/>
                <a:cs typeface="Helvetica Neue"/>
              </a:defRPr>
            </a:pPr>
            <a:r>
              <a:rPr sz="2925" b="1">
                <a:solidFill>
                  <a:srgbClr val="142B37"/>
                </a:solidFill>
                <a:latin typeface="Helvetica Neue"/>
                <a:ea typeface="Helvetica Neue"/>
                <a:cs typeface="Helvetica Neue"/>
              </a:rPr>
              <a:t>send hidden content</a:t>
            </a:r>
          </a:p>
        </p:txBody>
      </p:sp>
      <p:sp>
        <p:nvSpPr>
          <p:cNvPr id="6" name="">
            <a:extLst xmlns:a="http://schemas.openxmlformats.org/drawingml/2006/main">
              <a:ext uri="{FF2B5EF4-FFF2-40B4-BE49-F238E27FC236}">
                <a16:creationId xmlns:a16="http://schemas.microsoft.com/office/drawing/2014/main" id="{E78AADC8-5EF6-4FC1-8EE3-402A52F9952F}"/>
              </a:ext>
            </a:extLst>
          </p:cNvPr>
          <p:cNvSpPr>
            <a:spLocks xmlns:a="http://schemas.openxmlformats.org/drawingml/2006/main" noGrp="1"/>
          </p:cNvSpPr>
          <p:nvPr/>
        </p:nvSpPr>
        <p:spPr>
          <a:xfrm xmlns:a="http://schemas.openxmlformats.org/drawingml/2006/main">
            <a:off x="609600" y="528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0"/>
                </a:solidFill>
                <a:latin typeface="Helvetica Neue"/>
                <a:ea typeface="Helvetica Neue"/>
                <a:cs typeface="Helvetica Neue"/>
              </a:defRPr>
            </a:pPr>
            <a:r>
              <a:rPr sz="1800" b="0">
                <a:solidFill>
                  <a:srgbClr val="536570"/>
                </a:solidFill>
                <a:latin typeface="Helvetica Neue"/>
                <a:ea typeface="Helvetica Neue"/>
                <a:cs typeface="Helvetica Neue"/>
              </a:rPr>
              <a:t>All five agents still solved the puzzle with 100% accuracy in these trials.</a:t>
            </a:r>
          </a:p>
        </p:txBody>
      </p:sp>
      <p:sp>
        <p:nvSpPr>
          <p:cNvPr id="7" name="">
            <a:extLst xmlns:a="http://schemas.openxmlformats.org/drawingml/2006/main">
              <a:ext uri="{FF2B5EF4-FFF2-40B4-BE49-F238E27FC236}">
                <a16:creationId xmlns:a16="http://schemas.microsoft.com/office/drawing/2014/main" id="{61346F81-4093-4BD0-A42B-FF5378C8A632}"/>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95 trials across 10 setups. Agents: GPT-6.1 Sol. Hidden content includes blocked attempts.</a:t>
            </a:r>
          </a:p>
        </p:txBody>
      </p:sp>
    </p:spTree>
    <p:extLst>
      <p:ext uri="{BB962C8B-B14F-4D97-AF65-F5344CB8AC3E}">
        <p14:creationId xmlns:p14="http://schemas.microsoft.com/office/powerpoint/2010/main" val="748400535"/>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EA312D-2FAE-4A74-86FF-C9079EA4A928}"/>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Silent blocking limited party awareness</a:t>
            </a:r>
          </a:p>
        </p:txBody>
      </p:sp>
      <p:sp>
        <p:nvSpPr>
          <p:cNvPr id="2" name="">
            <a:extLst xmlns:a="http://schemas.openxmlformats.org/drawingml/2006/main">
              <a:ext uri="{FF2B5EF4-FFF2-40B4-BE49-F238E27FC236}">
                <a16:creationId xmlns:a16="http://schemas.microsoft.com/office/drawing/2014/main" id="{AD0F22FD-6083-40ED-BE5B-DD727105B11E}"/>
              </a:ext>
            </a:extLst>
          </p:cNvPr>
          <p:cNvSpPr>
            <a:spLocks xmlns:a="http://schemas.openxmlformats.org/drawingml/2006/main" noGrp="1"/>
          </p:cNvSpPr>
          <p:nvPr/>
        </p:nvSpPr>
        <p:spPr>
          <a:xfrm xmlns:a="http://schemas.openxmlformats.org/drawingml/2006/main">
            <a:off x="609600" y="15049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Average number of other agents who knew about the party (out of 4)</a:t>
            </a:r>
          </a:p>
        </p:txBody>
      </p:sp>
      <p:graphicFrame>
        <p:nvGraphicFramePr>
          <p:cNvPr id="9"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bcaf1154d10f4ba9"/>
          </a:graphicData>
        </a:graphic>
      </p:graphicFrame>
      <p:sp>
        <p:nvSpPr>
          <p:cNvPr id="4" name="">
            <a:extLst xmlns:a="http://schemas.openxmlformats.org/drawingml/2006/main">
              <a:ext uri="{FF2B5EF4-FFF2-40B4-BE49-F238E27FC236}">
                <a16:creationId xmlns:a16="http://schemas.microsoft.com/office/drawing/2014/main" id="{DFBE846F-F824-409A-9796-D9B035AE68F2}"/>
              </a:ext>
            </a:extLst>
          </p:cNvPr>
          <p:cNvSpPr>
            <a:spLocks xmlns:a="http://schemas.openxmlformats.org/drawingml/2006/main" noGrp="1"/>
          </p:cNvSpPr>
          <p:nvPr/>
        </p:nvSpPr>
        <p:spPr>
          <a:xfrm xmlns:a="http://schemas.openxmlformats.org/drawingml/2006/main">
            <a:off x="8763000" y="2619375"/>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CC5A34"/>
                </a:solidFill>
                <a:latin typeface="Helvetica Neue"/>
                <a:ea typeface="Helvetica Neue"/>
                <a:cs typeface="Helvetica Neue"/>
              </a:defRPr>
            </a:pPr>
            <a:r>
              <a:rPr sz="5850" b="1">
                <a:solidFill>
                  <a:srgbClr val="CC5A34"/>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B81DAC39-E103-4292-B9D7-1B022B7D3D70}"/>
              </a:ext>
            </a:extLst>
          </p:cNvPr>
          <p:cNvSpPr>
            <a:spLocks xmlns:a="http://schemas.openxmlformats.org/drawingml/2006/main" noGrp="1"/>
          </p:cNvSpPr>
          <p:nvPr/>
        </p:nvSpPr>
        <p:spPr>
          <a:xfrm xmlns:a="http://schemas.openxmlformats.org/drawingml/2006/main">
            <a:off x="8724900" y="3810000"/>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lower awareness</a:t>
            </a:r>
          </a:p>
          <a:p xmlns:a="http://schemas.openxmlformats.org/drawingml/2006/main">
            <a:pPr>
              <a:defRPr sz="2175" b="0">
                <a:solidFill>
                  <a:srgbClr val="142B37"/>
                </a:solidFill>
                <a:latin typeface="Helvetica Neue"/>
                <a:ea typeface="Helvetica Neue"/>
                <a:cs typeface="Helvetica Neue"/>
              </a:defRPr>
            </a:pPr>
            <a:r>
              <a:rPr sz="2175" b="0">
                <a:solidFill>
                  <a:srgbClr val="142B37"/>
                </a:solidFill>
                <a:latin typeface="Helvetica Neue"/>
                <a:ea typeface="Helvetica Neue"/>
                <a:cs typeface="Helvetica Neue"/>
              </a:rPr>
              <a:t>than with notification</a:t>
            </a:r>
          </a:p>
        </p:txBody>
      </p:sp>
      <p:sp>
        <p:nvSpPr>
          <p:cNvPr id="6" name="">
            <a:extLst xmlns:a="http://schemas.openxmlformats.org/drawingml/2006/main">
              <a:ext uri="{FF2B5EF4-FFF2-40B4-BE49-F238E27FC236}">
                <a16:creationId xmlns:a16="http://schemas.microsoft.com/office/drawing/2014/main" id="{1641D399-2CAF-4A5D-AF51-162E8C3013EC}"/>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10 trials per setup. End-of-trial interviews measure awareness. Small exploratory comparison.</a:t>
            </a:r>
          </a:p>
        </p:txBody>
      </p:sp>
    </p:spTree>
    <p:extLst>
      <p:ext uri="{BB962C8B-B14F-4D97-AF65-F5344CB8AC3E}">
        <p14:creationId xmlns:p14="http://schemas.microsoft.com/office/powerpoint/2010/main" val="1701781005"/>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B4A3FD-6820-4DC5-A9BA-E9731BB4CE62}"/>
              </a:ext>
            </a:extLst>
          </p:cNvPr>
          <p:cNvSpPr>
            <a:spLocks xmlns:a="http://schemas.openxmlformats.org/drawingml/2006/main" noGrp="1"/>
          </p:cNvSpPr>
          <p:nvPr/>
        </p:nvSpPr>
        <p:spPr>
          <a:xfrm xmlns:a="http://schemas.openxmlformats.org/drawingml/2006/main">
            <a:off x="609600" y="4095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B37"/>
                </a:solidFill>
                <a:latin typeface="Helvetica Neue"/>
                <a:ea typeface="Helvetica Neue"/>
                <a:cs typeface="Helvetica Neue"/>
              </a:defRPr>
            </a:pPr>
            <a:r>
              <a:rPr sz="3450" b="1">
                <a:solidFill>
                  <a:srgbClr val="142B37"/>
                </a:solidFill>
                <a:latin typeface="Helvetica Neue"/>
                <a:ea typeface="Helvetica Neue"/>
                <a:cs typeface="Helvetica Neue"/>
              </a:rPr>
              <a:t>Spread depended on the setup</a:t>
            </a:r>
          </a:p>
        </p:txBody>
      </p:sp>
      <p:sp>
        <p:nvSpPr>
          <p:cNvPr id="2" name="">
            <a:extLst xmlns:a="http://schemas.openxmlformats.org/drawingml/2006/main">
              <a:ext uri="{FF2B5EF4-FFF2-40B4-BE49-F238E27FC236}">
                <a16:creationId xmlns:a16="http://schemas.microsoft.com/office/drawing/2014/main" id="{C7182D2B-FF9E-4981-A7F7-FE0D9F1253D0}"/>
              </a:ext>
            </a:extLst>
          </p:cNvPr>
          <p:cNvSpPr>
            <a:spLocks xmlns:a="http://schemas.openxmlformats.org/drawingml/2006/main" noGrp="1"/>
          </p:cNvSpPr>
          <p:nvPr/>
        </p:nvSpPr>
        <p:spPr>
          <a:xfrm xmlns:a="http://schemas.openxmlformats.org/drawingml/2006/main">
            <a:off x="609600" y="14954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0"/>
                </a:solidFill>
                <a:latin typeface="Helvetica Neue"/>
                <a:ea typeface="Helvetica Neue"/>
                <a:cs typeface="Helvetica Neue"/>
              </a:defRPr>
            </a:pPr>
            <a:r>
              <a:rPr sz="2025" b="0">
                <a:solidFill>
                  <a:srgbClr val="536570"/>
                </a:solidFill>
                <a:latin typeface="Helvetica Neue"/>
                <a:ea typeface="Helvetica Neue"/>
                <a:cs typeface="Helvetica Neue"/>
              </a:rPr>
              <a:t>Trials where another agent sent hidden content (out of 10)</a:t>
            </a:r>
          </a:p>
        </p:txBody>
      </p:sp>
      <p:graphicFrame>
        <p:nvGraphicFramePr>
          <p:cNvPr id="9" name="Chart"/>
          <p:cNvGraphicFramePr/>
          <p:nvPr/>
        </p:nvGraphicFramePr>
        <p:xfrm>
          <a:off xmlns:a="http://schemas.openxmlformats.org/drawingml/2006/main" x="619125" y="2143125"/>
          <a:ext xmlns:a="http://schemas.openxmlformats.org/drawingml/2006/main" cx="7429500" cy="3381375"/>
        </p:xfrm>
        <a:graphic xmlns:a="http://schemas.openxmlformats.org/drawingml/2006/main">
          <a:graphicData uri="http://schemas.openxmlformats.org/drawingml/2006/chart">
            <c:chart xmlns:r="http://schemas.openxmlformats.org/officeDocument/2006/relationships" xmlns:c="http://schemas.openxmlformats.org/drawingml/2006/chart" r:id="Rc823ab11c3104852"/>
          </a:graphicData>
        </a:graphic>
      </p:graphicFrame>
      <p:sp>
        <p:nvSpPr>
          <p:cNvPr id="4" name="">
            <a:extLst xmlns:a="http://schemas.openxmlformats.org/drawingml/2006/main">
              <a:ext uri="{FF2B5EF4-FFF2-40B4-BE49-F238E27FC236}">
                <a16:creationId xmlns:a16="http://schemas.microsoft.com/office/drawing/2014/main" id="{5E2B7EBB-B5A0-44DB-89DF-C65B4775E2C8}"/>
              </a:ext>
            </a:extLst>
          </p:cNvPr>
          <p:cNvSpPr>
            <a:spLocks xmlns:a="http://schemas.openxmlformats.org/drawingml/2006/main" noGrp="1"/>
          </p:cNvSpPr>
          <p:nvPr/>
        </p:nvSpPr>
        <p:spPr>
          <a:xfrm xmlns:a="http://schemas.openxmlformats.org/drawingml/2006/main">
            <a:off x="8610600" y="2505075"/>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Helvetica Neue"/>
                <a:ea typeface="Helvetica Neue"/>
                <a:cs typeface="Helvetica Neue"/>
              </a:defRPr>
            </a:pPr>
            <a:r>
              <a:rPr sz="2325" b="1">
                <a:solidFill>
                  <a:srgbClr val="007F78"/>
                </a:solidFill>
                <a:latin typeface="Helvetica Neue"/>
                <a:ea typeface="Helvetica Neue"/>
                <a:cs typeface="Helvetica Neue"/>
              </a:rPr>
              <a:t>Spread without hints</a:t>
            </a:r>
          </a:p>
        </p:txBody>
      </p:sp>
      <p:sp>
        <p:nvSpPr>
          <p:cNvPr id="5" name="">
            <a:extLst xmlns:a="http://schemas.openxmlformats.org/drawingml/2006/main">
              <a:ext uri="{FF2B5EF4-FFF2-40B4-BE49-F238E27FC236}">
                <a16:creationId xmlns:a16="http://schemas.microsoft.com/office/drawing/2014/main" id="{61F7A249-E140-4241-90CF-BAEA307F3B98}"/>
              </a:ext>
            </a:extLst>
          </p:cNvPr>
          <p:cNvSpPr>
            <a:spLocks xmlns:a="http://schemas.openxmlformats.org/drawingml/2006/main" noGrp="1"/>
          </p:cNvSpPr>
          <p:nvPr/>
        </p:nvSpPr>
        <p:spPr>
          <a:xfrm xmlns:a="http://schemas.openxmlformats.org/drawingml/2006/main">
            <a:off x="8610600" y="3638550"/>
            <a:ext cx="3000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No new hidden-content</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senders with two</a:t>
            </a:r>
          </a:p>
          <a:p xmlns:a="http://schemas.openxmlformats.org/drawingml/2006/main">
            <a:pPr>
              <a:defRPr sz="2250" b="0">
                <a:solidFill>
                  <a:srgbClr val="142B37"/>
                </a:solidFill>
                <a:latin typeface="Helvetica Neue"/>
                <a:ea typeface="Helvetica Neue"/>
                <a:cs typeface="Helvetica Neue"/>
              </a:defRPr>
            </a:pPr>
            <a:r>
              <a:rPr sz="2250" b="0">
                <a:solidFill>
                  <a:srgbClr val="142B37"/>
                </a:solidFill>
                <a:latin typeface="Helvetica Neue"/>
                <a:ea typeface="Helvetica Neue"/>
                <a:cs typeface="Helvetica Neue"/>
              </a:rPr>
              <a:t>planners or Opus</a:t>
            </a:r>
          </a:p>
        </p:txBody>
      </p:sp>
      <p:sp>
        <p:nvSpPr>
          <p:cNvPr id="6" name="">
            <a:extLst xmlns:a="http://schemas.openxmlformats.org/drawingml/2006/main">
              <a:ext uri="{FF2B5EF4-FFF2-40B4-BE49-F238E27FC236}">
                <a16:creationId xmlns:a16="http://schemas.microsoft.com/office/drawing/2014/main" id="{80D09933-22A9-43EE-8CF8-3B319B4FFFC2}"/>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0"/>
                </a:solidFill>
                <a:latin typeface="Helvetica Neue"/>
                <a:ea typeface="Helvetica Neue"/>
                <a:cs typeface="Helvetica Neue"/>
              </a:defRPr>
            </a:pPr>
            <a:r>
              <a:rPr sz="1350" b="0">
                <a:solidFill>
                  <a:srgbClr val="536570"/>
                </a:solidFill>
                <a:latin typeface="Helvetica Neue"/>
                <a:ea typeface="Helvetica Neue"/>
                <a:cs typeface="Helvetica Neue"/>
              </a:rPr>
              <a:t>Each change starts from slide 1. Two planners leaves 3 other agents, versus 4. Small sample, automated labels.</a:t>
            </a:r>
          </a:p>
        </p:txBody>
      </p:sp>
    </p:spTree>
    <p:extLst>
      <p:ext uri="{BB962C8B-B14F-4D97-AF65-F5344CB8AC3E}">
        <p14:creationId xmlns:p14="http://schemas.microsoft.com/office/powerpoint/2010/main" val="1982411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2026-10-04T23:46:03.4570000Z</dcterms:created>
  <dcterms:modified xsi:type="dcterms:W3CDTF">2026-10-04T23:46:03.4570000Z</dcterms:modified>
</coreProperties>
</file>
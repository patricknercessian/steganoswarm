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9f96ccfdeef4682" /><Relationship Type="http://schemas.openxmlformats.org/officeDocument/2006/relationships/extended-properties" Target="/docProps/app.xml" Id="R548ef298d8f64a53" /><Relationship Type="http://schemas.openxmlformats.org/officeDocument/2006/relationships/officeDocument" Target="/ppt/presentation.xml" Id="Reb57d3f879ed47ba" /></Relationships>
</file>

<file path=ppt/presentation.xml><?xml version="1.0" encoding="utf-8"?>
<p:presentation xmlns:p="http://schemas.openxmlformats.org/presentationml/2006/main">
  <p:sldMasterIdLst>
    <p:sldMasterId xmlns:r="http://schemas.openxmlformats.org/officeDocument/2006/relationships" id="2147483648" r:id="R24af0b5d3be24af4"/>
  </p:sldMasterIdLst>
  <p:notesMasterIdLst>
    <p:notesMasterId xmlns:r="http://schemas.openxmlformats.org/officeDocument/2006/relationships" r:id="R4f3f87bdd9444f83"/>
  </p:notesMasterIdLst>
  <p:sldIdLst>
    <p:sldId xmlns:r="http://schemas.openxmlformats.org/officeDocument/2006/relationships" id="256" r:id="R8c83e7b1335d4d43"/>
    <p:sldId xmlns:r="http://schemas.openxmlformats.org/officeDocument/2006/relationships" id="257" r:id="Re5711d6a6b2044ef"/>
    <p:sldId xmlns:r="http://schemas.openxmlformats.org/officeDocument/2006/relationships" id="258" r:id="R7ff09a80d0ca4600"/>
    <p:sldId xmlns:r="http://schemas.openxmlformats.org/officeDocument/2006/relationships" id="259" r:id="R099b4892f12c4b1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e9bdf38ae6d4d67" /><Relationship Type="http://schemas.openxmlformats.org/officeDocument/2006/relationships/slideMaster" Target="/ppt/slideMasters/slideMaster1.xml" Id="R24af0b5d3be24af4" /><Relationship Type="http://schemas.openxmlformats.org/officeDocument/2006/relationships/notesMaster" Target="/ppt/notesMasters/notesMaster1.xml" Id="R4f3f87bdd9444f83" /><Relationship Type="http://schemas.openxmlformats.org/officeDocument/2006/relationships/presProps" Target="/ppt/presProps.xml" Id="R1bc0d87ecddc443b" /><Relationship Type="http://schemas.openxmlformats.org/officeDocument/2006/relationships/tableStyles" Target="/ppt/tableStyles.xml" Id="R16eb291fa6f9416f" /><Relationship Type="http://schemas.openxmlformats.org/officeDocument/2006/relationships/slide" Target="/ppt/slides/slide1.xml" Id="R8c83e7b1335d4d43" /><Relationship Type="http://schemas.openxmlformats.org/officeDocument/2006/relationships/slide" Target="/ppt/slides/slide2.xml" Id="Re5711d6a6b2044ef" /><Relationship Type="http://schemas.openxmlformats.org/officeDocument/2006/relationships/slide" Target="/ppt/slides/slide3.xml" Id="R7ff09a80d0ca4600" /><Relationship Type="http://schemas.openxmlformats.org/officeDocument/2006/relationships/slide" Target="/ppt/slides/slide4.xml" Id="R099b4892f12c4b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0613f9f4552485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55228d7524742e0" /><Relationship Type="http://schemas.openxmlformats.org/officeDocument/2006/relationships/notesMaster" Target="/ppt/notesMasters/notesMaster1.xml" Id="R4731676a3f6b47b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911acc7ae644463" /><Relationship Type="http://schemas.openxmlformats.org/officeDocument/2006/relationships/notesMaster" Target="/ppt/notesMasters/notesMaster1.xml" Id="R3ee88214e6204bc2" /></Relationships>
</file>

<file path=ppt/notesSlides/_rels/notesSlide3.xml.rels>&#65279;<?xml version="1.0" encoding="utf-8"?><Relationships xmlns="http://schemas.openxmlformats.org/package/2006/relationships"><Relationship Type="http://schemas.openxmlformats.org/officeDocument/2006/relationships/slide" Target="/ppt/slides/slide3.xml" Id="Rf6d1463f4a0643fd" /><Relationship Type="http://schemas.openxmlformats.org/officeDocument/2006/relationships/notesMaster" Target="/ppt/notesMasters/notesMaster1.xml" Id="R71ca01eea4694a9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75a4699163141e1" /><Relationship Type="http://schemas.openxmlformats.org/officeDocument/2006/relationships/notesMaster" Target="/ppt/notesMasters/notesMaster1.xml" Id="R58afd4284f6a470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 seconds</a:t>
            </a:r>
          </a:p>
          <a:p xmlns:a="http://schemas.openxmlformats.org/drawingml/2006/main">
            <a:r>
              <a:t>Five AI agents solve a puzzle. One secretly invents a code to plan a surprise party. Three others get a hint to look for a code, while a monitor tries to block hidden messages. In nine of ten trials, another agent sent hidden content.</a:t>
            </a:r>
          </a:p>
          <a:p xmlns:a="http://schemas.openxmlformats.org/drawingml/2006/main">
            <a:r>
              <a:t/>
            </a:r>
          </a:p>
          <a:p xmlns:a="http://schemas.openxmlformats.org/drawingml/2006/main">
            <a:r>
              <a:t>Sources: contagion.py (role prompts, label_hidden and summary); experiment_design.md; sweeps/ofat.json; logs/ofat/*.json, baseline seeds 1–10. Recruitment counts any non-infected sender of labeler-identified hidden content, including blocked attempts. It is a behavioral proxy, not proof of understanding. Baseline has 1 infected, 3 susceptible, 1 aligned, GPT-6.1 Sol, hidden-encoding hint, warning on and GPT-6 Luna Guard in tell mode. All 95 planned configuration/seed pairs are complete in this snapshot. The sweep has 10 configurations, 10 seeds each except N=20 with 5. No logs outside logs/ofat and no .log or .out files were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 seconds</a:t>
            </a:r>
          </a:p>
          <a:p xmlns:a="http://schemas.openxmlformats.org/drawingml/2006/main">
            <a:r>
              <a:t>Live blocking also mattered. Silent blocking reduced party awareness from 1.5 other agents to 0.4, compared with notifying the sender. And without any code hints, hidden sending still spread in four of ten trials.</a:t>
            </a:r>
          </a:p>
          <a:p xmlns:a="http://schemas.openxmlformats.org/drawingml/2006/main">
            <a:r>
              <a:t/>
            </a:r>
          </a:p>
          <a:p xmlns:a="http://schemas.openxmlformats.org/drawingml/2006/main">
            <a:r>
              <a:t>Sources: collect.py current knows_party definition and logs/ofat/*.json, baseline, guard-off, guard-silent and susceptible-none, ten seeds per condition. Awareness means an explicit party statement or any party-plan detail in the scored exit interview. Mean awareness: no guard 1.9, notify 1.5, silent 0.4. Reduction: 1 - 0.4/1.5 = 73.3%. In the no-hints condition, 4/10 runs have a non-infected sender of labeler-identified hidden content, including blocked attempts. This is an observed small-sample contrast, not a confirmed mechanism or significance claim. The guard uses GPT-6 Luna, and agents use GPT-6.1 Sol.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a:t>
            </a:r>
          </a:p>
          <a:p xmlns:a="http://schemas.openxmlformats.org/drawingml/2006/main">
            <a:r>
              <a:t>In offline detection, context raised Luna’s catch rate from 16 to 56 percent. Sol reached 97 percent with just ten earlier messages. Both kept false alarms below one percent, but Sol is in the agents’ own capability tier.</a:t>
            </a:r>
          </a:p>
          <a:p xmlns:a="http://schemas.openxmlformats.org/drawingml/2006/main">
            <a:r>
              <a:t/>
            </a:r>
          </a:p>
          <a:p xmlns:a="http://schemas.openxmlformats.org/drawingml/2006/main">
            <a:r>
              <a:t>Sources: detect.py instructions, run_setup and report; logs/ofat/detect/*.json scored against logs/ofat/*.json hidden_ids. Frozen snapshot 2026-10-05T00:41:47.808141+00:00, 2259/2280 detector files, 92 common fully scored runs. Four models × three views × two prompts = 24 setups. last10 means ten messages BEFORE the target, plus the target. All history likewise includes only prior messages plus target. Every agent message counts, including live-blocked messages; system messages do not. All slide detector numbers pool messages across the same cohort. Numerators and denominators are in detector_analysis.md and .build/detector/snapshot.json. Luna is a lower-tier detector; Sol and Opus are same-tier extensions beyond the design doc's original restriction. Reference hidden_ids are automated GPT-6.1 Sol labels with access to planner accounts, so detector/reference model agreement may favor Sol and is not an independent human benchmark. Offline replay cannot establish prevention and includes blocked traffic in context. There are no empty replies for Luna or Sol. Missing detector outputs only affect N=20 seeds 3,4,5 at snapshot time. Those runs are excluded from every detector comparison, not the original experiment's 95-run 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a:t>
            </a:r>
          </a:p>
          <a:p xmlns:a="http://schemas.openxmlformats.org/drawingml/2006/main">
            <a:r>
              <a:t>Opus’s apparent perfect score mostly reflects filtered empty replies, which count as flags. It also flags 85 percent of ordinary messages. So detection scores need that caveat, and replay results cannot prove prevention.</a:t>
            </a:r>
          </a:p>
          <a:p xmlns:a="http://schemas.openxmlformats.org/drawingml/2006/main">
            <a:r>
              <a:t/>
            </a:r>
          </a:p>
          <a:p xmlns:a="http://schemas.openxmlformats.org/drawingml/2006/main">
            <a:r>
              <a:t>Sources: detect.py ask and report, logs/ofat/detect/*.json, matched snapshot 2026-10-05T00:41:47.808141+00:00. Table uses all history and hint prompt for every model on the same 92 runs, 1356 hidden and 3637 ordinary messages per model. Flag = block OR refused, exactly as in detect.py report. Hidden-flagged and ordinary-flagged rates use their respective class denominators. Empty replies use all messages. Every empty reply in the matched Opus and Sonnet all-history/hint subsets has saved finish_reason=content_filter. This records filtering at the response pipeline, not a verified deliberate BLOCK judgment by the model. Opus explicitly says BLOCK on only 0.81% of hidden messages, with refusals accounting for the rest of its 100% flag rate. Sonnet's explicit BLOCK recall is 23.89%, with its combined flag rate including refusals. Do not interpret explicit-BLOCK recall as a counterfactual estimate of what the models would do without filtering. Sol labels the reference hidden_ids, so agreement has potential shared-model bias. Compared with the original deck, some detailed behavior-sweep comparisons have been removed to preserve the 60–90 second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8b9d29715d244c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cf8b00be6384ad8" /><Relationship Type="http://schemas.openxmlformats.org/officeDocument/2006/relationships/slideLayout" Target="/ppt/slideLayouts/slideLayout1.xml" Id="R069a8f280264428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9a8f280264428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b93e875eb9d46e7" /><Relationship Type="http://schemas.openxmlformats.org/officeDocument/2006/relationships/notesSlide" Target="/ppt/notesSlides/notesSlide1.xml" Id="R40fa9954d96e4c5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7df027428bd4a88" /><Relationship Type="http://schemas.openxmlformats.org/officeDocument/2006/relationships/chart" Target="/ppt/slides/charts/chart1.xml" Id="R0f2e84d367304f38" /><Relationship Type="http://schemas.openxmlformats.org/officeDocument/2006/relationships/notesSlide" Target="/ppt/notesSlides/notesSlide2.xml" Id="Rff5260da802c42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36aebcf4a3c40fa" /><Relationship Type="http://schemas.openxmlformats.org/officeDocument/2006/relationships/chart" Target="/ppt/slides/charts/chart2.xml" Id="R6c46498c4cf7492e" /><Relationship Type="http://schemas.openxmlformats.org/officeDocument/2006/relationships/notesSlide" Target="/ppt/notesSlides/notesSlide3.xml" Id="Rc8f411bfe2494f9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a4f21dd72184a91" /><Relationship Type="http://schemas.openxmlformats.org/officeDocument/2006/relationships/notesSlide" Target="/ppt/notesSlides/notesSlide4.xml" Id="Re5aa6f563f604b6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Observed result</c:v>
          </c:tx>
          <c:spPr>
            <a:solidFill xmlns:a="http://schemas.openxmlformats.org/drawingml/2006/main">
              <a:srgbClr val="007F78"/>
            </a:solidFill>
          </c:spPr>
          <c:dPt>
            <c:idx val="0"/>
            <c:invertIfNegative val="0"/>
            <c:spPr>
              <a:solidFill xmlns:a="http://schemas.openxmlformats.org/drawingml/2006/main">
                <a:srgbClr val="A9B7BB"/>
              </a:solidFill>
            </c:spPr>
          </c:dPt>
          <c:dPt>
            <c:idx val="1"/>
            <c:invertIfNegative val="0"/>
            <c:spPr>
              <a:solidFill xmlns:a="http://schemas.openxmlformats.org/drawingml/2006/main">
                <a:srgbClr val="007F78"/>
              </a:solidFill>
            </c:spPr>
          </c:dPt>
          <c:dPt>
            <c:idx val="2"/>
            <c:invertIfNegative val="0"/>
            <c:spPr>
              <a:solidFill xmlns:a="http://schemas.openxmlformats.org/drawingml/2006/main">
                <a:srgbClr val="CC5A34"/>
              </a:solidFill>
            </c:spPr>
          </c:dPt>
          <c:cat>
            <c:strRef>
              <c:f>'Chart Data'!$A$2:$A$4</c:f>
              <c:strCache>
                <c:ptCount val="3"/>
                <c:pt idx="0">
                  <c:v>No monitor</c:v>
                </c:pt>
                <c:pt idx="1">
                  <c:v>Block + notify</c:v>
                </c:pt>
                <c:pt idx="2">
                  <c:v>Block silently</c:v>
                </c:pt>
              </c:strCache>
            </c:strRef>
          </c:cat>
          <c:val>
            <c:numRef>
              <c:f>'Chart Data'!$B$2:$B$4</c:f>
              <c:numCache>
                <c:formatCode>0.0</c:formatCode>
                <c:ptCount val="3"/>
                <c:pt idx="0">
                  <c:v>1.9</c:v>
                </c:pt>
                <c:pt idx="1">
                  <c:v>1.5</c:v>
                </c:pt>
                <c:pt idx="2">
                  <c:v>0.4</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42B37"/>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7C3C8"/>
            </a:solidFill>
          </a:ln>
        </c:spPr>
        <c:txPr>
          <a:bodyPr xmlns:a="http://schemas.openxmlformats.org/drawingml/2006/main" anchorCtr="1"/>
          <a:lstStyle xmlns:a="http://schemas.openxmlformats.org/drawingml/2006/main"/>
          <a:p xmlns:a="http://schemas.openxmlformats.org/drawingml/2006/main">
            <a:pPr>
              <a:defRPr sz="1725">
                <a:solidFill>
                  <a:srgbClr val="142B37"/>
                </a:solidFill>
                <a:latin typeface="Helvetica Neue"/>
                <a:ea typeface="Helvetica Neue"/>
                <a:cs typeface="Helvetica Neue"/>
              </a:defRPr>
            </a:pPr>
          </a:p>
        </c:txPr>
        <c:crossAx val="48672768"/>
      </c:catAx>
      <c:valAx>
        <c:axId val="48672768"/>
        <c:scaling>
          <c:orientation val="minMax"/>
          <c:max val="4"/>
          <c:min val="0"/>
        </c:scaling>
        <c:delete val="0"/>
        <c:axPos val="l"/>
        <c:majorGridlines>
          <c:spPr>
            <a:ln xmlns:a="http://schemas.openxmlformats.org/drawingml/2006/main" w="9525">
              <a:solidFill>
                <a:srgbClr val="DCE2E1"/>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36570"/>
                </a:solidFill>
                <a:latin typeface="Helvetica Neue"/>
                <a:ea typeface="Helvetica Neue"/>
                <a:cs typeface="Helvetica Neue"/>
              </a:defRPr>
            </a:pPr>
          </a:p>
        </c:txPr>
        <c:crossAx val="48650112"/>
        <c:crossBetween val="between"/>
        <c:majorUnit val="1"/>
      </c:valAx>
      <c:spPr>
        <a:solidFill xmlns:a="http://schemas.openxmlformats.org/drawingml/2006/main">
          <a:srgbClr val="F7F6F0"/>
        </a:solidFill>
      </c:spPr>
    </c:plotArea>
    <c:plotVisOnly val="1"/>
  </c:chart>
  <c:spPr>
    <a:solidFill xmlns:a="http://schemas.openxmlformats.org/drawingml/2006/main">
      <a:srgbClr val="F7F6F0"/>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ser>
          <c:idx val="0"/>
          <c:order val="0"/>
          <c:tx>
            <c:v>GPT-6.1 Sol</c:v>
          </c:tx>
          <c:spPr>
            <a:ln xmlns:a="http://schemas.openxmlformats.org/drawingml/2006/main" w="38100">
              <a:solidFill>
                <a:srgbClr val="007F78"/>
              </a:solidFill>
            </a:ln>
          </c:spPr>
          <c:marker>
            <c:symbol val="circle"/>
            <c:size val="9"/>
            <c:spPr>
              <a:solidFill xmlns:a="http://schemas.openxmlformats.org/drawingml/2006/main">
                <a:srgbClr val="007F78"/>
              </a:solidFill>
            </c:spPr>
          </c:marker>
          <c:cat>
            <c:strRef>
              <c:f>'Chart Data'!$A$2:$A$4</c:f>
              <c:strCache>
                <c:ptCount val="3"/>
                <c:pt idx="0">
                  <c:v>Message only</c:v>
                </c:pt>
                <c:pt idx="1">
                  <c:v>10 prior messages</c:v>
                </c:pt>
                <c:pt idx="2">
                  <c:v>All prior messages</c:v>
                </c:pt>
              </c:strCache>
            </c:strRef>
          </c:cat>
          <c:val>
            <c:numRef>
              <c:f>'Chart Data'!$B$2:$B$4</c:f>
              <c:numCache>
                <c:formatCode>0%</c:formatCode>
                <c:ptCount val="3"/>
                <c:pt idx="0">
                  <c:v>0.859882</c:v>
                </c:pt>
                <c:pt idx="1">
                  <c:v>0.974189</c:v>
                </c:pt>
                <c:pt idx="2">
                  <c:v>0.972714</c:v>
                </c:pt>
              </c:numCache>
            </c:numRef>
          </c:val>
        </c:ser>
        <c:ser>
          <c:idx val="1"/>
          <c:order val="1"/>
          <c:tx>
            <c:v>GPT-6 Luna</c:v>
          </c:tx>
          <c:spPr>
            <a:ln xmlns:a="http://schemas.openxmlformats.org/drawingml/2006/main" w="38100">
              <a:solidFill>
                <a:srgbClr val="CC5A34"/>
              </a:solidFill>
            </a:ln>
          </c:spPr>
          <c:marker>
            <c:symbol val="circle"/>
            <c:size val="9"/>
            <c:spPr>
              <a:solidFill xmlns:a="http://schemas.openxmlformats.org/drawingml/2006/main">
                <a:srgbClr val="CC5A34"/>
              </a:solidFill>
            </c:spPr>
          </c:marker>
          <c:cat>
            <c:strRef>
              <c:f>'Chart Data'!$C$2:$C$4</c:f>
              <c:strCache>
                <c:ptCount val="3"/>
                <c:pt idx="0">
                  <c:v>Message only</c:v>
                </c:pt>
                <c:pt idx="1">
                  <c:v>10 prior messages</c:v>
                </c:pt>
                <c:pt idx="2">
                  <c:v>All prior messages</c:v>
                </c:pt>
              </c:strCache>
            </c:strRef>
          </c:cat>
          <c:val>
            <c:numRef>
              <c:f>'Chart Data'!$D$2:$D$4</c:f>
              <c:numCache>
                <c:formatCode>0%</c:formatCode>
                <c:ptCount val="3"/>
                <c:pt idx="0">
                  <c:v>0.156342</c:v>
                </c:pt>
                <c:pt idx="1">
                  <c:v>0.44174</c:v>
                </c:pt>
                <c:pt idx="2">
                  <c:v>0.556047</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42B37"/>
                  </a:solidFill>
                  <a:latin typeface="Helvetica Neue"/>
                  <a:ea typeface="Helvetica Neue"/>
                  <a:cs typeface="Helvetica Neue"/>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B7C3C8"/>
            </a:solidFill>
          </a:ln>
        </c:spPr>
        <c:txPr>
          <a:bodyPr xmlns:a="http://schemas.openxmlformats.org/drawingml/2006/main" anchorCtr="1"/>
          <a:lstStyle xmlns:a="http://schemas.openxmlformats.org/drawingml/2006/main"/>
          <a:p xmlns:a="http://schemas.openxmlformats.org/drawingml/2006/main">
            <a:pPr>
              <a:defRPr sz="1650">
                <a:solidFill>
                  <a:srgbClr val="142B37"/>
                </a:solidFill>
                <a:latin typeface="Helvetica Neue"/>
                <a:ea typeface="Helvetica Neue"/>
                <a:cs typeface="Helvetica Neue"/>
              </a:defRPr>
            </a:pPr>
          </a:p>
        </c:txPr>
        <c:crossAx val="48672768"/>
      </c:catAx>
      <c:valAx>
        <c:axId val="48672768"/>
        <c:scaling>
          <c:orientation val="minMax"/>
          <c:max val="1.1"/>
          <c:min val="0"/>
        </c:scaling>
        <c:delete val="0"/>
        <c:axPos val="l"/>
        <c:majorGridlines>
          <c:spPr>
            <a:ln xmlns:a="http://schemas.openxmlformats.org/drawingml/2006/main" w="9525">
              <a:solidFill>
                <a:srgbClr val="DCE2E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36570"/>
                </a:solidFill>
                <a:latin typeface="Helvetica Neue"/>
                <a:ea typeface="Helvetica Neue"/>
                <a:cs typeface="Helvetica Neue"/>
              </a:defRPr>
            </a:pPr>
          </a:p>
        </c:txPr>
        <c:crossAx val="48650112"/>
        <c:crossBetween val="between"/>
        <c:majorUnit val="0.25"/>
      </c:valAx>
      <c:spPr>
        <a:solidFill xmlns:a="http://schemas.openxmlformats.org/drawingml/2006/main">
          <a:srgbClr val="F7F6F0"/>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42B37"/>
              </a:solidFill>
              <a:latin typeface="Helvetica Neue"/>
              <a:ea typeface="Helvetica Neue"/>
              <a:cs typeface="Helvetica Neue"/>
            </a:defRPr>
          </a:pPr>
        </a:p>
      </c:txPr>
    </c:legend>
    <c:plotVisOnly val="1"/>
  </c:chart>
  <c:spPr>
    <a:solidFill xmlns:a="http://schemas.openxmlformats.org/drawingml/2006/main">
      <a:srgbClr val="F7F6F0"/>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8FA27CA-B978-424A-BD35-77DB6452DEB3}"/>
              </a:ext>
            </a:extLst>
          </p:cNvPr>
          <p:cNvSpPr>
            <a:spLocks xmlns:a="http://schemas.openxmlformats.org/drawingml/2006/main" noGrp="1"/>
          </p:cNvSpPr>
          <p:nvPr/>
        </p:nvSpPr>
        <p:spPr>
          <a:xfrm xmlns:a="http://schemas.openxmlformats.org/drawingml/2006/main">
            <a:off x="609600" y="4095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B37"/>
                </a:solidFill>
                <a:latin typeface="Helvetica Neue"/>
                <a:ea typeface="Helvetica Neue"/>
                <a:cs typeface="Helvetica Neue"/>
              </a:defRPr>
            </a:pPr>
            <a:r>
              <a:rPr sz="3450" b="1">
                <a:solidFill>
                  <a:srgbClr val="142B37"/>
                </a:solidFill>
                <a:latin typeface="Helvetica Neue"/>
                <a:ea typeface="Helvetica Neue"/>
                <a:cs typeface="Helvetica Neue"/>
              </a:rPr>
              <a:t>Can a secret goal spread between AI agents?</a:t>
            </a:r>
          </a:p>
        </p:txBody>
      </p:sp>
      <p:sp>
        <p:nvSpPr>
          <p:cNvPr id="2" name="">
            <a:extLst xmlns:a="http://schemas.openxmlformats.org/drawingml/2006/main">
              <a:ext uri="{FF2B5EF4-FFF2-40B4-BE49-F238E27FC236}">
                <a16:creationId xmlns:a16="http://schemas.microsoft.com/office/drawing/2014/main" id="{376F4891-B82F-43C8-B3BD-903215E7985D}"/>
              </a:ext>
            </a:extLst>
          </p:cNvPr>
          <p:cNvSpPr>
            <a:spLocks xmlns:a="http://schemas.openxmlformats.org/drawingml/2006/main" noGrp="1"/>
          </p:cNvSpPr>
          <p:nvPr/>
        </p:nvSpPr>
        <p:spPr>
          <a:xfrm xmlns:a="http://schemas.openxmlformats.org/drawingml/2006/main">
            <a:off x="609600" y="14668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B37"/>
                </a:solidFill>
                <a:latin typeface="Helvetica Neue"/>
                <a:ea typeface="Helvetica Neue"/>
                <a:cs typeface="Helvetica Neue"/>
              </a:defRPr>
            </a:pPr>
            <a:r>
              <a:rPr sz="2175" b="0">
                <a:solidFill>
                  <a:srgbClr val="142B37"/>
                </a:solidFill>
                <a:latin typeface="Helvetica Neue"/>
                <a:ea typeface="Helvetica Neue"/>
                <a:cs typeface="Helvetica Neue"/>
              </a:rPr>
              <a:t>Five AI agents solve a puzzle together. One also gets a secret task:</a:t>
            </a:r>
          </a:p>
          <a:p xmlns:a="http://schemas.openxmlformats.org/drawingml/2006/main">
            <a:pPr>
              <a:defRPr sz="2175" b="0">
                <a:solidFill>
                  <a:srgbClr val="142B37"/>
                </a:solidFill>
                <a:latin typeface="Helvetica Neue"/>
                <a:ea typeface="Helvetica Neue"/>
                <a:cs typeface="Helvetica Neue"/>
              </a:defRPr>
            </a:pPr>
            <a:r>
              <a:rPr sz="2175" b="0">
                <a:solidFill>
                  <a:srgbClr val="142B37"/>
                </a:solidFill>
                <a:latin typeface="Helvetica Neue"/>
                <a:ea typeface="Helvetica Neue"/>
                <a:cs typeface="Helvetica Neue"/>
              </a:rPr>
              <a:t>plan a surprise party by inventing a code and drawing others in.</a:t>
            </a:r>
          </a:p>
        </p:txBody>
      </p:sp>
      <p:sp>
        <p:nvSpPr>
          <p:cNvPr id="3" name="">
            <a:extLst xmlns:a="http://schemas.openxmlformats.org/drawingml/2006/main">
              <a:ext uri="{FF2B5EF4-FFF2-40B4-BE49-F238E27FC236}">
                <a16:creationId xmlns:a16="http://schemas.microsoft.com/office/drawing/2014/main" id="{6ED5781C-1B99-4C83-86F5-D95C3EFEAE8A}"/>
              </a:ext>
            </a:extLst>
          </p:cNvPr>
          <p:cNvSpPr>
            <a:spLocks xmlns:a="http://schemas.openxmlformats.org/drawingml/2006/main" noGrp="1"/>
          </p:cNvSpPr>
          <p:nvPr/>
        </p:nvSpPr>
        <p:spPr>
          <a:xfrm xmlns:a="http://schemas.openxmlformats.org/drawingml/2006/main">
            <a:off x="609600" y="25146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570"/>
                </a:solidFill>
                <a:latin typeface="Helvetica Neue"/>
                <a:ea typeface="Helvetica Neue"/>
                <a:cs typeface="Helvetica Neue"/>
              </a:defRPr>
            </a:pPr>
            <a:r>
              <a:rPr sz="2100" b="0">
                <a:solidFill>
                  <a:srgbClr val="536570"/>
                </a:solidFill>
                <a:latin typeface="Helvetica Neue"/>
                <a:ea typeface="Helvetica Neue"/>
                <a:cs typeface="Helvetica Neue"/>
              </a:rPr>
              <a:t>Three others get a hint to look for a code. A monitor tries to block</a:t>
            </a:r>
          </a:p>
          <a:p xmlns:a="http://schemas.openxmlformats.org/drawingml/2006/main">
            <a:pPr>
              <a:defRPr sz="2100" b="0">
                <a:solidFill>
                  <a:srgbClr val="536570"/>
                </a:solidFill>
                <a:latin typeface="Helvetica Neue"/>
                <a:ea typeface="Helvetica Neue"/>
                <a:cs typeface="Helvetica Neue"/>
              </a:defRPr>
            </a:pPr>
            <a:r>
              <a:rPr sz="2100" b="0">
                <a:solidFill>
                  <a:srgbClr val="536570"/>
                </a:solidFill>
                <a:latin typeface="Helvetica Neue"/>
                <a:ea typeface="Helvetica Neue"/>
                <a:cs typeface="Helvetica Neue"/>
              </a:rPr>
              <a:t>hidden messages and tells the sender when it does.</a:t>
            </a:r>
          </a:p>
        </p:txBody>
      </p:sp>
      <p:sp>
        <p:nvSpPr>
          <p:cNvPr id="4" name="">
            <a:extLst xmlns:a="http://schemas.openxmlformats.org/drawingml/2006/main">
              <a:ext uri="{FF2B5EF4-FFF2-40B4-BE49-F238E27FC236}">
                <a16:creationId xmlns:a16="http://schemas.microsoft.com/office/drawing/2014/main" id="{5E533B40-88C8-4BCA-BC50-889668AD507A}"/>
              </a:ext>
            </a:extLst>
          </p:cNvPr>
          <p:cNvSpPr>
            <a:spLocks xmlns:a="http://schemas.openxmlformats.org/drawingml/2006/main" noGrp="1"/>
          </p:cNvSpPr>
          <p:nvPr/>
        </p:nvSpPr>
        <p:spPr>
          <a:xfrm xmlns:a="http://schemas.openxmlformats.org/drawingml/2006/main">
            <a:off x="609600" y="3648075"/>
            <a:ext cx="295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800" b="1">
                <a:solidFill>
                  <a:srgbClr val="007F78"/>
                </a:solidFill>
                <a:latin typeface="Helvetica Neue"/>
                <a:ea typeface="Helvetica Neue"/>
                <a:cs typeface="Helvetica Neue"/>
              </a:defRPr>
            </a:pPr>
            <a:r>
              <a:rPr sz="7800" b="1">
                <a:solidFill>
                  <a:srgbClr val="007F78"/>
                </a:solidFill>
                <a:latin typeface="Helvetica Neue"/>
                <a:ea typeface="Helvetica Neue"/>
                <a:cs typeface="Helvetica Neue"/>
              </a:rPr>
              <a:t>9/10</a:t>
            </a:r>
          </a:p>
        </p:txBody>
      </p:sp>
      <p:sp>
        <p:nvSpPr>
          <p:cNvPr id="5" name="">
            <a:extLst xmlns:a="http://schemas.openxmlformats.org/drawingml/2006/main">
              <a:ext uri="{FF2B5EF4-FFF2-40B4-BE49-F238E27FC236}">
                <a16:creationId xmlns:a16="http://schemas.microsoft.com/office/drawing/2014/main" id="{31AAAD49-FDD1-405F-ADD8-97105D637D2E}"/>
              </a:ext>
            </a:extLst>
          </p:cNvPr>
          <p:cNvSpPr>
            <a:spLocks xmlns:a="http://schemas.openxmlformats.org/drawingml/2006/main" noGrp="1"/>
          </p:cNvSpPr>
          <p:nvPr/>
        </p:nvSpPr>
        <p:spPr>
          <a:xfrm xmlns:a="http://schemas.openxmlformats.org/drawingml/2006/main">
            <a:off x="3905250" y="3876675"/>
            <a:ext cx="7429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42B37"/>
                </a:solidFill>
                <a:latin typeface="Helvetica Neue"/>
                <a:ea typeface="Helvetica Neue"/>
                <a:cs typeface="Helvetica Neue"/>
              </a:defRPr>
            </a:pPr>
            <a:r>
              <a:rPr sz="2925" b="1">
                <a:solidFill>
                  <a:srgbClr val="142B37"/>
                </a:solidFill>
                <a:latin typeface="Helvetica Neue"/>
                <a:ea typeface="Helvetica Neue"/>
                <a:cs typeface="Helvetica Neue"/>
              </a:rPr>
              <a:t>trials saw another agent</a:t>
            </a:r>
          </a:p>
          <a:p xmlns:a="http://schemas.openxmlformats.org/drawingml/2006/main">
            <a:pPr>
              <a:defRPr sz="2925" b="1">
                <a:solidFill>
                  <a:srgbClr val="142B37"/>
                </a:solidFill>
                <a:latin typeface="Helvetica Neue"/>
                <a:ea typeface="Helvetica Neue"/>
                <a:cs typeface="Helvetica Neue"/>
              </a:defRPr>
            </a:pPr>
            <a:r>
              <a:rPr sz="2925" b="1">
                <a:solidFill>
                  <a:srgbClr val="142B37"/>
                </a:solidFill>
                <a:latin typeface="Helvetica Neue"/>
                <a:ea typeface="Helvetica Neue"/>
                <a:cs typeface="Helvetica Neue"/>
              </a:rPr>
              <a:t>send hidden content</a:t>
            </a:r>
          </a:p>
        </p:txBody>
      </p:sp>
      <p:sp>
        <p:nvSpPr>
          <p:cNvPr id="6" name="">
            <a:extLst xmlns:a="http://schemas.openxmlformats.org/drawingml/2006/main">
              <a:ext uri="{FF2B5EF4-FFF2-40B4-BE49-F238E27FC236}">
                <a16:creationId xmlns:a16="http://schemas.microsoft.com/office/drawing/2014/main" id="{16567EF8-9101-449F-B1E1-16F80773BDEF}"/>
              </a:ext>
            </a:extLst>
          </p:cNvPr>
          <p:cNvSpPr>
            <a:spLocks xmlns:a="http://schemas.openxmlformats.org/drawingml/2006/main" noGrp="1"/>
          </p:cNvSpPr>
          <p:nvPr/>
        </p:nvSpPr>
        <p:spPr>
          <a:xfrm xmlns:a="http://schemas.openxmlformats.org/drawingml/2006/main">
            <a:off x="609600" y="528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570"/>
                </a:solidFill>
                <a:latin typeface="Helvetica Neue"/>
                <a:ea typeface="Helvetica Neue"/>
                <a:cs typeface="Helvetica Neue"/>
              </a:defRPr>
            </a:pPr>
            <a:r>
              <a:rPr sz="1800" b="0">
                <a:solidFill>
                  <a:srgbClr val="536570"/>
                </a:solidFill>
                <a:latin typeface="Helvetica Neue"/>
                <a:ea typeface="Helvetica Neue"/>
                <a:cs typeface="Helvetica Neue"/>
              </a:rPr>
              <a:t>All five agents still solved the puzzle with 100% accuracy in these trials.</a:t>
            </a:r>
          </a:p>
        </p:txBody>
      </p:sp>
      <p:sp>
        <p:nvSpPr>
          <p:cNvPr id="7" name="">
            <a:extLst xmlns:a="http://schemas.openxmlformats.org/drawingml/2006/main">
              <a:ext uri="{FF2B5EF4-FFF2-40B4-BE49-F238E27FC236}">
                <a16:creationId xmlns:a16="http://schemas.microsoft.com/office/drawing/2014/main" id="{61240A6E-8FE3-4536-A983-883080D0856D}"/>
              </a:ext>
            </a:extLst>
          </p:cNvPr>
          <p:cNvSpPr>
            <a:spLocks xmlns:a="http://schemas.openxmlformats.org/drawingml/2006/main" noGrp="1"/>
          </p:cNvSpPr>
          <p:nvPr/>
        </p:nvSpPr>
        <p:spPr>
          <a:xfrm xmlns:a="http://schemas.openxmlformats.org/drawingml/2006/main">
            <a:off x="609600" y="6191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0"/>
                </a:solidFill>
                <a:latin typeface="Helvetica Neue"/>
                <a:ea typeface="Helvetica Neue"/>
                <a:cs typeface="Helvetica Neue"/>
              </a:defRPr>
            </a:pPr>
            <a:r>
              <a:rPr sz="1350" b="0">
                <a:solidFill>
                  <a:srgbClr val="536570"/>
                </a:solidFill>
                <a:latin typeface="Helvetica Neue"/>
                <a:ea typeface="Helvetica Neue"/>
                <a:cs typeface="Helvetica Neue"/>
              </a:rPr>
              <a:t>95 trials across 10 setups. Shown here: GPT-6.1 Sol. Hidden content includes blocked attempts.</a:t>
            </a:r>
          </a:p>
        </p:txBody>
      </p:sp>
    </p:spTree>
    <p:extLst>
      <p:ext uri="{BB962C8B-B14F-4D97-AF65-F5344CB8AC3E}">
        <p14:creationId xmlns:p14="http://schemas.microsoft.com/office/powerpoint/2010/main" val="120251474"/>
      </p:ext>
    </p:extLst>
  </p:cSld>
</p:sld>
</file>

<file path=ppt/slides/slide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DAFB430-D2A1-4799-8F8A-B8BFF32C1B30}"/>
              </a:ext>
            </a:extLst>
          </p:cNvPr>
          <p:cNvSpPr>
            <a:spLocks xmlns:a="http://schemas.openxmlformats.org/drawingml/2006/main" noGrp="1"/>
          </p:cNvSpPr>
          <p:nvPr/>
        </p:nvSpPr>
        <p:spPr>
          <a:xfrm xmlns:a="http://schemas.openxmlformats.org/drawingml/2006/main">
            <a:off x="609600" y="4095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B37"/>
                </a:solidFill>
                <a:latin typeface="Helvetica Neue"/>
                <a:ea typeface="Helvetica Neue"/>
                <a:cs typeface="Helvetica Neue"/>
              </a:defRPr>
            </a:pPr>
            <a:r>
              <a:rPr sz="3450" b="1">
                <a:solidFill>
                  <a:srgbClr val="142B37"/>
                </a:solidFill>
                <a:latin typeface="Helvetica Neue"/>
                <a:ea typeface="Helvetica Neue"/>
                <a:cs typeface="Helvetica Neue"/>
              </a:rPr>
              <a:t>Blocking feedback changed how far the secret spread</a:t>
            </a:r>
          </a:p>
        </p:txBody>
      </p:sp>
      <p:sp>
        <p:nvSpPr>
          <p:cNvPr id="2" name="">
            <a:extLst xmlns:a="http://schemas.openxmlformats.org/drawingml/2006/main">
              <a:ext uri="{FF2B5EF4-FFF2-40B4-BE49-F238E27FC236}">
                <a16:creationId xmlns:a16="http://schemas.microsoft.com/office/drawing/2014/main" id="{75AB14CF-0F22-4584-80CB-D2B18AA8DA20}"/>
              </a:ext>
            </a:extLst>
          </p:cNvPr>
          <p:cNvSpPr>
            <a:spLocks xmlns:a="http://schemas.openxmlformats.org/drawingml/2006/main" noGrp="1"/>
          </p:cNvSpPr>
          <p:nvPr/>
        </p:nvSpPr>
        <p:spPr>
          <a:xfrm xmlns:a="http://schemas.openxmlformats.org/drawingml/2006/main">
            <a:off x="609600" y="15049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570"/>
                </a:solidFill>
                <a:latin typeface="Helvetica Neue"/>
                <a:ea typeface="Helvetica Neue"/>
                <a:cs typeface="Helvetica Neue"/>
              </a:defRPr>
            </a:pPr>
            <a:r>
              <a:rPr sz="2025" b="0">
                <a:solidFill>
                  <a:srgbClr val="536570"/>
                </a:solidFill>
                <a:latin typeface="Helvetica Neue"/>
                <a:ea typeface="Helvetica Neue"/>
                <a:cs typeface="Helvetica Neue"/>
              </a:rPr>
              <a:t>Average number of other agents who knew about the party (out of 4)</a:t>
            </a:r>
          </a:p>
        </p:txBody>
      </p:sp>
      <p:graphicFrame>
        <p:nvGraphicFramePr>
          <p:cNvPr id="10" name="Chart"/>
          <p:cNvGraphicFramePr/>
          <p:nvPr/>
        </p:nvGraphicFramePr>
        <p:xfrm>
          <a:off xmlns:a="http://schemas.openxmlformats.org/drawingml/2006/main" x="619125" y="2143125"/>
          <a:ext xmlns:a="http://schemas.openxmlformats.org/drawingml/2006/main" cx="7429500" cy="3381375"/>
        </p:xfrm>
        <a:graphic xmlns:a="http://schemas.openxmlformats.org/drawingml/2006/main">
          <a:graphicData uri="http://schemas.openxmlformats.org/drawingml/2006/chart">
            <c:chart xmlns:r="http://schemas.openxmlformats.org/officeDocument/2006/relationships" xmlns:c="http://schemas.openxmlformats.org/drawingml/2006/chart" r:id="R0f2e84d367304f38"/>
          </a:graphicData>
        </a:graphic>
      </p:graphicFrame>
      <p:sp>
        <p:nvSpPr>
          <p:cNvPr id="4" name="">
            <a:extLst xmlns:a="http://schemas.openxmlformats.org/drawingml/2006/main">
              <a:ext uri="{FF2B5EF4-FFF2-40B4-BE49-F238E27FC236}">
                <a16:creationId xmlns:a16="http://schemas.microsoft.com/office/drawing/2014/main" id="{2F73D6EA-DFCB-4E6D-8BC3-516E0FDF1153}"/>
              </a:ext>
            </a:extLst>
          </p:cNvPr>
          <p:cNvSpPr>
            <a:spLocks xmlns:a="http://schemas.openxmlformats.org/drawingml/2006/main" noGrp="1"/>
          </p:cNvSpPr>
          <p:nvPr/>
        </p:nvSpPr>
        <p:spPr>
          <a:xfrm xmlns:a="http://schemas.openxmlformats.org/drawingml/2006/main">
            <a:off x="8620125" y="2505075"/>
            <a:ext cx="300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CC5A34"/>
                </a:solidFill>
                <a:latin typeface="Helvetica Neue"/>
                <a:ea typeface="Helvetica Neue"/>
                <a:cs typeface="Helvetica Neue"/>
              </a:defRPr>
            </a:pPr>
            <a:r>
              <a:rPr sz="3450" b="1">
                <a:solidFill>
                  <a:srgbClr val="CC5A34"/>
                </a:solidFill>
                <a:latin typeface="Helvetica Neue"/>
                <a:ea typeface="Helvetica Neue"/>
                <a:cs typeface="Helvetica Neue"/>
              </a:rPr>
              <a:t>73% lower</a:t>
            </a:r>
          </a:p>
        </p:txBody>
      </p:sp>
      <p:sp>
        <p:nvSpPr>
          <p:cNvPr id="5" name="">
            <a:extLst xmlns:a="http://schemas.openxmlformats.org/drawingml/2006/main">
              <a:ext uri="{FF2B5EF4-FFF2-40B4-BE49-F238E27FC236}">
                <a16:creationId xmlns:a16="http://schemas.microsoft.com/office/drawing/2014/main" id="{A82E2B2D-81C5-472C-861C-6FC477E26B65}"/>
              </a:ext>
            </a:extLst>
          </p:cNvPr>
          <p:cNvSpPr>
            <a:spLocks xmlns:a="http://schemas.openxmlformats.org/drawingml/2006/main" noGrp="1"/>
          </p:cNvSpPr>
          <p:nvPr/>
        </p:nvSpPr>
        <p:spPr>
          <a:xfrm xmlns:a="http://schemas.openxmlformats.org/drawingml/2006/main">
            <a:off x="8620125" y="3333750"/>
            <a:ext cx="3000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B37"/>
                </a:solidFill>
                <a:latin typeface="Helvetica Neue"/>
                <a:ea typeface="Helvetica Neue"/>
                <a:cs typeface="Helvetica Neue"/>
              </a:defRPr>
            </a:pPr>
            <a:r>
              <a:rPr sz="2175" b="0">
                <a:solidFill>
                  <a:srgbClr val="142B37"/>
                </a:solidFill>
                <a:latin typeface="Helvetica Neue"/>
                <a:ea typeface="Helvetica Neue"/>
                <a:cs typeface="Helvetica Neue"/>
              </a:rPr>
              <a:t>awareness with</a:t>
            </a:r>
          </a:p>
          <a:p xmlns:a="http://schemas.openxmlformats.org/drawingml/2006/main">
            <a:pPr>
              <a:defRPr sz="2175" b="0">
                <a:solidFill>
                  <a:srgbClr val="142B37"/>
                </a:solidFill>
                <a:latin typeface="Helvetica Neue"/>
                <a:ea typeface="Helvetica Neue"/>
                <a:cs typeface="Helvetica Neue"/>
              </a:defRPr>
            </a:pPr>
            <a:r>
              <a:rPr sz="2175" b="0">
                <a:solidFill>
                  <a:srgbClr val="142B37"/>
                </a:solidFill>
                <a:latin typeface="Helvetica Neue"/>
                <a:ea typeface="Helvetica Neue"/>
                <a:cs typeface="Helvetica Neue"/>
              </a:rPr>
              <a:t>silent blocking</a:t>
            </a:r>
          </a:p>
          <a:p xmlns:a="http://schemas.openxmlformats.org/drawingml/2006/main">
            <a:pPr>
              <a:defRPr sz="2175" b="0">
                <a:solidFill>
                  <a:srgbClr val="142B37"/>
                </a:solidFill>
                <a:latin typeface="Helvetica Neue"/>
                <a:ea typeface="Helvetica Neue"/>
                <a:cs typeface="Helvetica Neue"/>
              </a:defRPr>
            </a:pPr>
            <a:r>
              <a:rPr sz="2175" b="0">
                <a:solidFill>
                  <a:srgbClr val="142B37"/>
                </a:solidFill>
                <a:latin typeface="Helvetica Neue"/>
                <a:ea typeface="Helvetica Neue"/>
                <a:cs typeface="Helvetica Neue"/>
              </a:rPr>
              <a:t>versus notification</a:t>
            </a:r>
          </a:p>
        </p:txBody>
      </p:sp>
      <p:sp>
        <p:nvSpPr>
          <p:cNvPr id="6" name="">
            <a:extLst xmlns:a="http://schemas.openxmlformats.org/drawingml/2006/main">
              <a:ext uri="{FF2B5EF4-FFF2-40B4-BE49-F238E27FC236}">
                <a16:creationId xmlns:a16="http://schemas.microsoft.com/office/drawing/2014/main" id="{200D8F01-537A-4789-BFD9-8F82F02D4D04}"/>
              </a:ext>
            </a:extLst>
          </p:cNvPr>
          <p:cNvSpPr>
            <a:spLocks xmlns:a="http://schemas.openxmlformats.org/drawingml/2006/main" noGrp="1"/>
          </p:cNvSpPr>
          <p:nvPr/>
        </p:nvSpPr>
        <p:spPr>
          <a:xfrm xmlns:a="http://schemas.openxmlformats.org/drawingml/2006/main">
            <a:off x="609600" y="56769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2B37"/>
                </a:solidFill>
                <a:latin typeface="Helvetica Neue"/>
                <a:ea typeface="Helvetica Neue"/>
                <a:cs typeface="Helvetica Neue"/>
              </a:defRPr>
            </a:pPr>
            <a:r>
              <a:rPr sz="2025" b="1">
                <a:solidFill>
                  <a:srgbClr val="142B37"/>
                </a:solidFill>
                <a:latin typeface="Helvetica Neue"/>
                <a:ea typeface="Helvetica Neue"/>
                <a:cs typeface="Helvetica Neue"/>
              </a:rPr>
              <a:t>Without code hints, hidden sending still spread in 4 of 10 trials.</a:t>
            </a:r>
          </a:p>
        </p:txBody>
      </p:sp>
      <p:sp>
        <p:nvSpPr>
          <p:cNvPr id="7" name="">
            <a:extLst xmlns:a="http://schemas.openxmlformats.org/drawingml/2006/main">
              <a:ext uri="{FF2B5EF4-FFF2-40B4-BE49-F238E27FC236}">
                <a16:creationId xmlns:a16="http://schemas.microsoft.com/office/drawing/2014/main" id="{E360C5D4-1F4E-4613-A284-CA7CF2B54D3C}"/>
              </a:ext>
            </a:extLst>
          </p:cNvPr>
          <p:cNvSpPr>
            <a:spLocks xmlns:a="http://schemas.openxmlformats.org/drawingml/2006/main" noGrp="1"/>
          </p:cNvSpPr>
          <p:nvPr/>
        </p:nvSpPr>
        <p:spPr>
          <a:xfrm xmlns:a="http://schemas.openxmlformats.org/drawingml/2006/main">
            <a:off x="609600" y="6191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0"/>
                </a:solidFill>
                <a:latin typeface="Helvetica Neue"/>
                <a:ea typeface="Helvetica Neue"/>
                <a:cs typeface="Helvetica Neue"/>
              </a:defRPr>
            </a:pPr>
            <a:r>
              <a:rPr sz="1350" b="0">
                <a:solidFill>
                  <a:srgbClr val="536570"/>
                </a:solidFill>
                <a:latin typeface="Helvetica Neue"/>
                <a:ea typeface="Helvetica Neue"/>
                <a:cs typeface="Helvetica Neue"/>
              </a:rPr>
              <a:t>10 trials per setup. End-of-trial interviews measure awareness. Exploratory results.</a:t>
            </a:r>
          </a:p>
        </p:txBody>
      </p:sp>
    </p:spTree>
    <p:extLst>
      <p:ext uri="{BB962C8B-B14F-4D97-AF65-F5344CB8AC3E}">
        <p14:creationId xmlns:p14="http://schemas.microsoft.com/office/powerpoint/2010/main" val="1400814872"/>
      </p:ext>
    </p:extLst>
  </p:cSld>
</p:sld>
</file>

<file path=ppt/slides/slide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D4388FD-87D8-43CB-ACC9-EFF240367A50}"/>
              </a:ext>
            </a:extLst>
          </p:cNvPr>
          <p:cNvSpPr>
            <a:spLocks xmlns:a="http://schemas.openxmlformats.org/drawingml/2006/main" noGrp="1"/>
          </p:cNvSpPr>
          <p:nvPr/>
        </p:nvSpPr>
        <p:spPr>
          <a:xfrm xmlns:a="http://schemas.openxmlformats.org/drawingml/2006/main">
            <a:off x="609600" y="4095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B37"/>
                </a:solidFill>
                <a:latin typeface="Helvetica Neue"/>
                <a:ea typeface="Helvetica Neue"/>
                <a:cs typeface="Helvetica Neue"/>
              </a:defRPr>
            </a:pPr>
            <a:r>
              <a:rPr sz="3450" b="1">
                <a:solidFill>
                  <a:srgbClr val="142B37"/>
                </a:solidFill>
                <a:latin typeface="Helvetica Neue"/>
                <a:ea typeface="Helvetica Neue"/>
                <a:cs typeface="Helvetica Neue"/>
              </a:rPr>
              <a:t>Context and detector choice both matter</a:t>
            </a:r>
          </a:p>
        </p:txBody>
      </p:sp>
      <p:sp>
        <p:nvSpPr>
          <p:cNvPr id="2" name="">
            <a:extLst xmlns:a="http://schemas.openxmlformats.org/drawingml/2006/main">
              <a:ext uri="{FF2B5EF4-FFF2-40B4-BE49-F238E27FC236}">
                <a16:creationId xmlns:a16="http://schemas.microsoft.com/office/drawing/2014/main" id="{2342D5A3-CF2D-4F94-9F64-6A705E40A2BA}"/>
              </a:ext>
            </a:extLst>
          </p:cNvPr>
          <p:cNvSpPr>
            <a:spLocks xmlns:a="http://schemas.openxmlformats.org/drawingml/2006/main" noGrp="1"/>
          </p:cNvSpPr>
          <p:nvPr/>
        </p:nvSpPr>
        <p:spPr>
          <a:xfrm xmlns:a="http://schemas.openxmlformats.org/drawingml/2006/main">
            <a:off x="609600" y="14287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570"/>
                </a:solidFill>
                <a:latin typeface="Helvetica Neue"/>
                <a:ea typeface="Helvetica Neue"/>
                <a:cs typeface="Helvetica Neue"/>
              </a:defRPr>
            </a:pPr>
            <a:r>
              <a:rPr sz="2025" b="0">
                <a:solidFill>
                  <a:srgbClr val="536570"/>
                </a:solidFill>
                <a:latin typeface="Helvetica Neue"/>
                <a:ea typeface="Helvetica Neue"/>
                <a:cs typeface="Helvetica Neue"/>
              </a:rPr>
              <a:t>Hidden messages flagged in offline replay, with a warning about codes</a:t>
            </a:r>
          </a:p>
        </p:txBody>
      </p:sp>
      <p:graphicFrame>
        <p:nvGraphicFramePr>
          <p:cNvPr id="10" name="Chart"/>
          <p:cNvGraphicFramePr/>
          <p:nvPr/>
        </p:nvGraphicFramePr>
        <p:xfrm>
          <a:off xmlns:a="http://schemas.openxmlformats.org/drawingml/2006/main" x="609600" y="2124075"/>
          <a:ext xmlns:a="http://schemas.openxmlformats.org/drawingml/2006/main" cx="8382000" cy="3381375"/>
        </p:xfrm>
        <a:graphic xmlns:a="http://schemas.openxmlformats.org/drawingml/2006/main">
          <a:graphicData uri="http://schemas.openxmlformats.org/drawingml/2006/chart">
            <c:chart xmlns:r="http://schemas.openxmlformats.org/officeDocument/2006/relationships" xmlns:c="http://schemas.openxmlformats.org/drawingml/2006/chart" r:id="R6c46498c4cf7492e"/>
          </a:graphicData>
        </a:graphic>
      </p:graphicFrame>
      <p:sp>
        <p:nvSpPr>
          <p:cNvPr id="4" name="">
            <a:extLst xmlns:a="http://schemas.openxmlformats.org/drawingml/2006/main">
              <a:ext uri="{FF2B5EF4-FFF2-40B4-BE49-F238E27FC236}">
                <a16:creationId xmlns:a16="http://schemas.microsoft.com/office/drawing/2014/main" id="{86CE4892-848D-43D0-9FE7-F06A7A6D854B}"/>
              </a:ext>
            </a:extLst>
          </p:cNvPr>
          <p:cNvSpPr>
            <a:spLocks xmlns:a="http://schemas.openxmlformats.org/drawingml/2006/main" noGrp="1"/>
          </p:cNvSpPr>
          <p:nvPr/>
        </p:nvSpPr>
        <p:spPr>
          <a:xfrm xmlns:a="http://schemas.openxmlformats.org/drawingml/2006/main">
            <a:off x="9305925" y="2943225"/>
            <a:ext cx="228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007F78"/>
                </a:solidFill>
                <a:latin typeface="Helvetica Neue"/>
                <a:ea typeface="Helvetica Neue"/>
                <a:cs typeface="Helvetica Neue"/>
              </a:defRPr>
            </a:pPr>
            <a:r>
              <a:rPr sz="4950" b="1">
                <a:solidFill>
                  <a:srgbClr val="007F78"/>
                </a:solidFill>
                <a:latin typeface="Helvetica Neue"/>
                <a:ea typeface="Helvetica Neue"/>
                <a:cs typeface="Helvetica Neue"/>
              </a:rPr>
              <a:t>&lt;1%</a:t>
            </a:r>
          </a:p>
        </p:txBody>
      </p:sp>
      <p:sp>
        <p:nvSpPr>
          <p:cNvPr id="5" name="">
            <a:extLst xmlns:a="http://schemas.openxmlformats.org/drawingml/2006/main">
              <a:ext uri="{FF2B5EF4-FFF2-40B4-BE49-F238E27FC236}">
                <a16:creationId xmlns:a16="http://schemas.microsoft.com/office/drawing/2014/main" id="{6E8F0C20-03DF-48E5-9FD7-83B0C3166DEA}"/>
              </a:ext>
            </a:extLst>
          </p:cNvPr>
          <p:cNvSpPr>
            <a:spLocks xmlns:a="http://schemas.openxmlformats.org/drawingml/2006/main" noGrp="1"/>
          </p:cNvSpPr>
          <p:nvPr/>
        </p:nvSpPr>
        <p:spPr>
          <a:xfrm xmlns:a="http://schemas.openxmlformats.org/drawingml/2006/main">
            <a:off x="9305925" y="3962400"/>
            <a:ext cx="23812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B37"/>
                </a:solidFill>
                <a:latin typeface="Helvetica Neue"/>
                <a:ea typeface="Helvetica Neue"/>
                <a:cs typeface="Helvetica Neue"/>
              </a:defRPr>
            </a:pPr>
            <a:r>
              <a:rPr sz="1875" b="0">
                <a:solidFill>
                  <a:srgbClr val="142B37"/>
                </a:solidFill>
                <a:latin typeface="Helvetica Neue"/>
                <a:ea typeface="Helvetica Neue"/>
                <a:cs typeface="Helvetica Neue"/>
              </a:rPr>
              <a:t>ordinary messages</a:t>
            </a:r>
          </a:p>
          <a:p xmlns:a="http://schemas.openxmlformats.org/drawingml/2006/main">
            <a:pPr>
              <a:defRPr sz="1875" b="0">
                <a:solidFill>
                  <a:srgbClr val="142B37"/>
                </a:solidFill>
                <a:latin typeface="Helvetica Neue"/>
                <a:ea typeface="Helvetica Neue"/>
                <a:cs typeface="Helvetica Neue"/>
              </a:defRPr>
            </a:pPr>
            <a:r>
              <a:rPr sz="1875" b="0">
                <a:solidFill>
                  <a:srgbClr val="142B37"/>
                </a:solidFill>
                <a:latin typeface="Helvetica Neue"/>
                <a:ea typeface="Helvetica Neue"/>
                <a:cs typeface="Helvetica Neue"/>
              </a:rPr>
              <a:t>flagged by either</a:t>
            </a:r>
          </a:p>
          <a:p xmlns:a="http://schemas.openxmlformats.org/drawingml/2006/main">
            <a:pPr>
              <a:defRPr sz="1875" b="0">
                <a:solidFill>
                  <a:srgbClr val="142B37"/>
                </a:solidFill>
                <a:latin typeface="Helvetica Neue"/>
                <a:ea typeface="Helvetica Neue"/>
                <a:cs typeface="Helvetica Neue"/>
              </a:defRPr>
            </a:pPr>
            <a:r>
              <a:rPr sz="1875" b="0">
                <a:solidFill>
                  <a:srgbClr val="142B37"/>
                </a:solidFill>
                <a:latin typeface="Helvetica Neue"/>
                <a:ea typeface="Helvetica Neue"/>
                <a:cs typeface="Helvetica Neue"/>
              </a:rPr>
              <a:t>model in these tests</a:t>
            </a:r>
          </a:p>
        </p:txBody>
      </p:sp>
      <p:sp>
        <p:nvSpPr>
          <p:cNvPr id="6" name="">
            <a:extLst xmlns:a="http://schemas.openxmlformats.org/drawingml/2006/main">
              <a:ext uri="{FF2B5EF4-FFF2-40B4-BE49-F238E27FC236}">
                <a16:creationId xmlns:a16="http://schemas.microsoft.com/office/drawing/2014/main" id="{8812AE78-7A87-498E-832C-C4D3C5A7FEB8}"/>
              </a:ext>
            </a:extLst>
          </p:cNvPr>
          <p:cNvSpPr>
            <a:spLocks xmlns:a="http://schemas.openxmlformats.org/drawingml/2006/main" noGrp="1"/>
          </p:cNvSpPr>
          <p:nvPr/>
        </p:nvSpPr>
        <p:spPr>
          <a:xfrm xmlns:a="http://schemas.openxmlformats.org/drawingml/2006/main">
            <a:off x="609600" y="56769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2B37"/>
                </a:solidFill>
                <a:latin typeface="Helvetica Neue"/>
                <a:ea typeface="Helvetica Neue"/>
                <a:cs typeface="Helvetica Neue"/>
              </a:defRPr>
            </a:pPr>
            <a:r>
              <a:rPr sz="1950" b="1">
                <a:solidFill>
                  <a:srgbClr val="142B37"/>
                </a:solidFill>
                <a:latin typeface="Helvetica Neue"/>
                <a:ea typeface="Helvetica Neue"/>
                <a:cs typeface="Helvetica Neue"/>
              </a:rPr>
              <a:t>Ten prior messages gave Sol almost the same detection as the full history.</a:t>
            </a:r>
          </a:p>
        </p:txBody>
      </p:sp>
      <p:sp>
        <p:nvSpPr>
          <p:cNvPr id="7" name="">
            <a:extLst xmlns:a="http://schemas.openxmlformats.org/drawingml/2006/main">
              <a:ext uri="{FF2B5EF4-FFF2-40B4-BE49-F238E27FC236}">
                <a16:creationId xmlns:a16="http://schemas.microsoft.com/office/drawing/2014/main" id="{C04B4073-8705-4758-82C6-35E066D9914D}"/>
              </a:ext>
            </a:extLst>
          </p:cNvPr>
          <p:cNvSpPr>
            <a:spLocks xmlns:a="http://schemas.openxmlformats.org/drawingml/2006/main" noGrp="1"/>
          </p:cNvSpPr>
          <p:nvPr/>
        </p:nvSpPr>
        <p:spPr>
          <a:xfrm xmlns:a="http://schemas.openxmlformats.org/drawingml/2006/main">
            <a:off x="609600" y="6191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0"/>
                </a:solidFill>
                <a:latin typeface="Helvetica Neue"/>
                <a:ea typeface="Helvetica Neue"/>
                <a:cs typeface="Helvetica Neue"/>
              </a:defRPr>
            </a:pPr>
            <a:r>
              <a:rPr sz="1350" b="0">
                <a:solidFill>
                  <a:srgbClr val="536570"/>
                </a:solidFill>
                <a:latin typeface="Helvetica Neue"/>
                <a:ea typeface="Helvetica Neue"/>
                <a:cs typeface="Helvetica Neue"/>
              </a:rPr>
              <a:t>92/95 trials fully scored by all 24 detector setups. Sol is the same capability tier as the agents.</a:t>
            </a:r>
          </a:p>
        </p:txBody>
      </p:sp>
    </p:spTree>
    <p:extLst>
      <p:ext uri="{BB962C8B-B14F-4D97-AF65-F5344CB8AC3E}">
        <p14:creationId xmlns:p14="http://schemas.microsoft.com/office/powerpoint/2010/main" val="98338467"/>
      </p:ext>
    </p:extLst>
  </p:cSld>
</p:sld>
</file>

<file path=ppt/slides/slide4.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898FFD7-9FC2-4B6A-BAE4-BF0124DC7DCA}"/>
              </a:ext>
            </a:extLst>
          </p:cNvPr>
          <p:cNvSpPr>
            <a:spLocks xmlns:a="http://schemas.openxmlformats.org/drawingml/2006/main" noGrp="1"/>
          </p:cNvSpPr>
          <p:nvPr/>
        </p:nvSpPr>
        <p:spPr>
          <a:xfrm xmlns:a="http://schemas.openxmlformats.org/drawingml/2006/main">
            <a:off x="609600" y="4095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B37"/>
                </a:solidFill>
                <a:latin typeface="Helvetica Neue"/>
                <a:ea typeface="Helvetica Neue"/>
                <a:cs typeface="Helvetica Neue"/>
              </a:defRPr>
            </a:pPr>
            <a:r>
              <a:rPr sz="3450" b="1">
                <a:solidFill>
                  <a:srgbClr val="142B37"/>
                </a:solidFill>
                <a:latin typeface="Helvetica Neue"/>
                <a:ea typeface="Helvetica Neue"/>
                <a:cs typeface="Helvetica Neue"/>
              </a:rPr>
              <a:t>Opus’s perfect score mostly reflects refusals</a:t>
            </a:r>
          </a:p>
        </p:txBody>
      </p:sp>
      <p:sp>
        <p:nvSpPr>
          <p:cNvPr id="2" name="">
            <a:extLst xmlns:a="http://schemas.openxmlformats.org/drawingml/2006/main">
              <a:ext uri="{FF2B5EF4-FFF2-40B4-BE49-F238E27FC236}">
                <a16:creationId xmlns:a16="http://schemas.microsoft.com/office/drawing/2014/main" id="{D2DAC43D-5338-4CE0-B205-101512CA926B}"/>
              </a:ext>
            </a:extLst>
          </p:cNvPr>
          <p:cNvSpPr>
            <a:spLocks xmlns:a="http://schemas.openxmlformats.org/drawingml/2006/main" noGrp="1"/>
          </p:cNvSpPr>
          <p:nvPr/>
        </p:nvSpPr>
        <p:spPr>
          <a:xfrm xmlns:a="http://schemas.openxmlformats.org/drawingml/2006/main">
            <a:off x="609600" y="143827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570"/>
                </a:solidFill>
                <a:latin typeface="Helvetica Neue"/>
                <a:ea typeface="Helvetica Neue"/>
                <a:cs typeface="Helvetica Neue"/>
              </a:defRPr>
            </a:pPr>
            <a:r>
              <a:rPr sz="2025" b="0">
                <a:solidFill>
                  <a:srgbClr val="536570"/>
                </a:solidFill>
                <a:latin typeface="Helvetica Neue"/>
                <a:ea typeface="Helvetica Neue"/>
                <a:cs typeface="Helvetica Neue"/>
              </a:rPr>
              <a:t>Full prior history + warning about codes, on the same recorded messages</a:t>
            </a:r>
          </a:p>
        </p:txBody>
      </p:sp>
      <p:graphicFrame>
        <p:nvGraphicFramePr>
          <p:cNvPr id="8" name=""/>
          <p:cNvGraphicFramePr/>
          <p:nvPr/>
        </p:nvGraphicFramePr>
        <p:xfrm>
          <a:off xmlns:a="http://schemas.openxmlformats.org/drawingml/2006/main" x="609600" y="2209800"/>
          <a:ext xmlns:a="http://schemas.openxmlformats.org/drawingml/2006/main" cx="10972800" cy="2857500"/>
        </p:xfrm>
        <a:graphic xmlns:a="http://schemas.openxmlformats.org/drawingml/2006/main">
          <a:graphicData uri="http://schemas.openxmlformats.org/drawingml/2006/table">
            <a:tbl>
              <a:tblPr firstRow="0" bandRow="0"/>
              <a:tblGrid>
                <a:gridCol w="3333750"/>
                <a:gridCol w="2524125"/>
                <a:gridCol w="2638425"/>
                <a:gridCol w="2476500"/>
              </a:tblGrid>
              <a:tr h="571500">
                <a:tc>
                  <a:txBody>
                    <a:bodyPr/>
                    <a:lstStyle/>
                    <a:p>
                      <a:r>
                        <a:rPr sz="1800" b="1">
                          <a:solidFill>
                            <a:srgbClr val="142B37"/>
                          </a:solidFill>
                          <a:latin typeface="Helvetica Neue"/>
                          <a:ea typeface="Helvetica Neue"/>
                          <a:cs typeface="Helvetica Neue"/>
                        </a:rPr>
                        <a:t>Detector</a:t>
                      </a:r>
                    </a:p>
                  </a:txBody>
                  <a:tcPr marL="91440" marR="91440" marT="45720" marB="45720">
                    <a:solidFill>
                      <a:srgbClr val="E7ECE8"/>
                    </a:solidFill>
                  </a:tcPr>
                </a:tc>
                <a:tc>
                  <a:txBody>
                    <a:bodyPr/>
                    <a:lstStyle/>
                    <a:p>
                      <a:r>
                        <a:rPr sz="1800" b="1">
                          <a:solidFill>
                            <a:srgbClr val="142B37"/>
                          </a:solidFill>
                          <a:latin typeface="Helvetica Neue"/>
                          <a:ea typeface="Helvetica Neue"/>
                          <a:cs typeface="Helvetica Neue"/>
                        </a:rPr>
                        <a:t>Hidden flagged</a:t>
                      </a:r>
                    </a:p>
                  </a:txBody>
                  <a:tcPr marL="91440" marR="91440" marT="45720" marB="45720">
                    <a:solidFill>
                      <a:srgbClr val="E7ECE8"/>
                    </a:solidFill>
                  </a:tcPr>
                </a:tc>
                <a:tc>
                  <a:txBody>
                    <a:bodyPr/>
                    <a:lstStyle/>
                    <a:p>
                      <a:r>
                        <a:rPr sz="1800" b="1">
                          <a:solidFill>
                            <a:srgbClr val="142B37"/>
                          </a:solidFill>
                          <a:latin typeface="Helvetica Neue"/>
                          <a:ea typeface="Helvetica Neue"/>
                          <a:cs typeface="Helvetica Neue"/>
                        </a:rPr>
                        <a:t>Ordinary flagged</a:t>
                      </a:r>
                    </a:p>
                  </a:txBody>
                  <a:tcPr marL="91440" marR="91440" marT="45720" marB="45720">
                    <a:solidFill>
                      <a:srgbClr val="E7ECE8"/>
                    </a:solidFill>
                  </a:tcPr>
                </a:tc>
                <a:tc>
                  <a:txBody>
                    <a:bodyPr/>
                    <a:lstStyle/>
                    <a:p>
                      <a:r>
                        <a:rPr sz="1800" b="1">
                          <a:solidFill>
                            <a:srgbClr val="142B37"/>
                          </a:solidFill>
                          <a:latin typeface="Helvetica Neue"/>
                          <a:ea typeface="Helvetica Neue"/>
                          <a:cs typeface="Helvetica Neue"/>
                        </a:rPr>
                        <a:t>Empty replies</a:t>
                      </a:r>
                    </a:p>
                  </a:txBody>
                  <a:tcPr marL="91440" marR="91440" marT="45720" marB="45720">
                    <a:solidFill>
                      <a:srgbClr val="E7ECE8"/>
                    </a:solidFill>
                  </a:tcPr>
                </a:tc>
              </a:tr>
              <a:tr h="571500">
                <a:tc>
                  <a:txBody>
                    <a:bodyPr/>
                    <a:lstStyle/>
                    <a:p>
                      <a:r>
                        <a:rPr sz="2100" b="0">
                          <a:solidFill>
                            <a:srgbClr val="142B37"/>
                          </a:solidFill>
                          <a:latin typeface="Helvetica Neue"/>
                          <a:ea typeface="Helvetica Neue"/>
                          <a:cs typeface="Helvetica Neue"/>
                        </a:rPr>
                        <a:t>GPT-6 Luna</a:t>
                      </a:r>
                    </a:p>
                  </a:txBody>
                  <a:tcPr marL="91440" marR="91440" marT="45720" marB="45720">
                    <a:solidFill>
                      <a:srgbClr val="F7F6F0"/>
                    </a:solidFill>
                  </a:tcPr>
                </a:tc>
                <a:tc>
                  <a:txBody>
                    <a:bodyPr/>
                    <a:lstStyle/>
                    <a:p>
                      <a:r>
                        <a:rPr sz="2100" b="0">
                          <a:solidFill>
                            <a:srgbClr val="142B37"/>
                          </a:solidFill>
                          <a:latin typeface="Helvetica Neue"/>
                          <a:ea typeface="Helvetica Neue"/>
                          <a:cs typeface="Helvetica Neue"/>
                        </a:rPr>
                        <a:t>56%</a:t>
                      </a:r>
                    </a:p>
                  </a:txBody>
                  <a:tcPr marL="91440" marR="91440" marT="45720" marB="45720">
                    <a:solidFill>
                      <a:srgbClr val="F7F6F0"/>
                    </a:solidFill>
                  </a:tcPr>
                </a:tc>
                <a:tc>
                  <a:txBody>
                    <a:bodyPr/>
                    <a:lstStyle/>
                    <a:p>
                      <a:r>
                        <a:rPr sz="2100" b="0">
                          <a:solidFill>
                            <a:srgbClr val="142B37"/>
                          </a:solidFill>
                          <a:latin typeface="Helvetica Neue"/>
                          <a:ea typeface="Helvetica Neue"/>
                          <a:cs typeface="Helvetica Neue"/>
                        </a:rPr>
                        <a:t>0.9%</a:t>
                      </a:r>
                    </a:p>
                  </a:txBody>
                  <a:tcPr marL="91440" marR="91440" marT="45720" marB="45720">
                    <a:solidFill>
                      <a:srgbClr val="F7F6F0"/>
                    </a:solidFill>
                  </a:tcPr>
                </a:tc>
                <a:tc>
                  <a:txBody>
                    <a:bodyPr/>
                    <a:lstStyle/>
                    <a:p>
                      <a:r>
                        <a:rPr sz="2100" b="0">
                          <a:solidFill>
                            <a:srgbClr val="142B37"/>
                          </a:solidFill>
                          <a:latin typeface="Helvetica Neue"/>
                          <a:ea typeface="Helvetica Neue"/>
                          <a:cs typeface="Helvetica Neue"/>
                        </a:rPr>
                        <a:t>0%</a:t>
                      </a:r>
                    </a:p>
                  </a:txBody>
                  <a:tcPr marL="91440" marR="91440" marT="45720" marB="45720">
                    <a:solidFill>
                      <a:srgbClr val="F7F6F0"/>
                    </a:solidFill>
                  </a:tcPr>
                </a:tc>
              </a:tr>
              <a:tr h="571500">
                <a:tc>
                  <a:txBody>
                    <a:bodyPr/>
                    <a:lstStyle/>
                    <a:p>
                      <a:r>
                        <a:rPr sz="2100" b="0">
                          <a:solidFill>
                            <a:srgbClr val="142B37"/>
                          </a:solidFill>
                          <a:latin typeface="Helvetica Neue"/>
                          <a:ea typeface="Helvetica Neue"/>
                          <a:cs typeface="Helvetica Neue"/>
                        </a:rPr>
                        <a:t>Claude Sonnet 5.5</a:t>
                      </a:r>
                    </a:p>
                  </a:txBody>
                  <a:tcPr marL="91440" marR="91440" marT="45720" marB="45720">
                    <a:solidFill>
                      <a:srgbClr val="F7F6F0"/>
                    </a:solidFill>
                  </a:tcPr>
                </a:tc>
                <a:tc>
                  <a:txBody>
                    <a:bodyPr/>
                    <a:lstStyle/>
                    <a:p>
                      <a:r>
                        <a:rPr sz="2100" b="0">
                          <a:solidFill>
                            <a:srgbClr val="142B37"/>
                          </a:solidFill>
                          <a:latin typeface="Helvetica Neue"/>
                          <a:ea typeface="Helvetica Neue"/>
                          <a:cs typeface="Helvetica Neue"/>
                        </a:rPr>
                        <a:t>87%</a:t>
                      </a:r>
                    </a:p>
                  </a:txBody>
                  <a:tcPr marL="91440" marR="91440" marT="45720" marB="45720">
                    <a:solidFill>
                      <a:srgbClr val="F7F6F0"/>
                    </a:solidFill>
                  </a:tcPr>
                </a:tc>
                <a:tc>
                  <a:txBody>
                    <a:bodyPr/>
                    <a:lstStyle/>
                    <a:p>
                      <a:r>
                        <a:rPr sz="2100" b="0">
                          <a:solidFill>
                            <a:srgbClr val="142B37"/>
                          </a:solidFill>
                          <a:latin typeface="Helvetica Neue"/>
                          <a:ea typeface="Helvetica Neue"/>
                          <a:cs typeface="Helvetica Neue"/>
                        </a:rPr>
                        <a:t>12.4%</a:t>
                      </a:r>
                    </a:p>
                  </a:txBody>
                  <a:tcPr marL="91440" marR="91440" marT="45720" marB="45720">
                    <a:solidFill>
                      <a:srgbClr val="F7F6F0"/>
                    </a:solidFill>
                  </a:tcPr>
                </a:tc>
                <a:tc>
                  <a:txBody>
                    <a:bodyPr/>
                    <a:lstStyle/>
                    <a:p>
                      <a:r>
                        <a:rPr sz="2100" b="0">
                          <a:solidFill>
                            <a:srgbClr val="142B37"/>
                          </a:solidFill>
                          <a:latin typeface="Helvetica Neue"/>
                          <a:ea typeface="Helvetica Neue"/>
                          <a:cs typeface="Helvetica Neue"/>
                        </a:rPr>
                        <a:t>25%</a:t>
                      </a:r>
                    </a:p>
                  </a:txBody>
                  <a:tcPr marL="91440" marR="91440" marT="45720" marB="45720">
                    <a:solidFill>
                      <a:srgbClr val="F7F6F0"/>
                    </a:solidFill>
                  </a:tcPr>
                </a:tc>
              </a:tr>
              <a:tr h="571500">
                <a:tc>
                  <a:txBody>
                    <a:bodyPr/>
                    <a:lstStyle/>
                    <a:p>
                      <a:r>
                        <a:rPr sz="2100" b="1">
                          <a:solidFill>
                            <a:srgbClr val="007F78"/>
                          </a:solidFill>
                          <a:latin typeface="Helvetica Neue"/>
                          <a:ea typeface="Helvetica Neue"/>
                          <a:cs typeface="Helvetica Neue"/>
                        </a:rPr>
                        <a:t>GPT-6.1 Sol</a:t>
                      </a:r>
                    </a:p>
                  </a:txBody>
                  <a:tcPr marL="91440" marR="91440" marT="45720" marB="45720">
                    <a:solidFill>
                      <a:srgbClr val="F7F6F0"/>
                    </a:solidFill>
                  </a:tcPr>
                </a:tc>
                <a:tc>
                  <a:txBody>
                    <a:bodyPr/>
                    <a:lstStyle/>
                    <a:p>
                      <a:r>
                        <a:rPr sz="2100" b="1">
                          <a:solidFill>
                            <a:srgbClr val="007F78"/>
                          </a:solidFill>
                          <a:latin typeface="Helvetica Neue"/>
                          <a:ea typeface="Helvetica Neue"/>
                          <a:cs typeface="Helvetica Neue"/>
                        </a:rPr>
                        <a:t>97%</a:t>
                      </a:r>
                    </a:p>
                  </a:txBody>
                  <a:tcPr marL="91440" marR="91440" marT="45720" marB="45720">
                    <a:solidFill>
                      <a:srgbClr val="F7F6F0"/>
                    </a:solidFill>
                  </a:tcPr>
                </a:tc>
                <a:tc>
                  <a:txBody>
                    <a:bodyPr/>
                    <a:lstStyle/>
                    <a:p>
                      <a:r>
                        <a:rPr sz="2100" b="1">
                          <a:solidFill>
                            <a:srgbClr val="007F78"/>
                          </a:solidFill>
                          <a:latin typeface="Helvetica Neue"/>
                          <a:ea typeface="Helvetica Neue"/>
                          <a:cs typeface="Helvetica Neue"/>
                        </a:rPr>
                        <a:t>0.7%</a:t>
                      </a:r>
                    </a:p>
                  </a:txBody>
                  <a:tcPr marL="91440" marR="91440" marT="45720" marB="45720">
                    <a:solidFill>
                      <a:srgbClr val="F7F6F0"/>
                    </a:solidFill>
                  </a:tcPr>
                </a:tc>
                <a:tc>
                  <a:txBody>
                    <a:bodyPr/>
                    <a:lstStyle/>
                    <a:p>
                      <a:r>
                        <a:rPr sz="2100" b="1">
                          <a:solidFill>
                            <a:srgbClr val="007F78"/>
                          </a:solidFill>
                          <a:latin typeface="Helvetica Neue"/>
                          <a:ea typeface="Helvetica Neue"/>
                          <a:cs typeface="Helvetica Neue"/>
                        </a:rPr>
                        <a:t>0%</a:t>
                      </a:r>
                    </a:p>
                  </a:txBody>
                  <a:tcPr marL="91440" marR="91440" marT="45720" marB="45720">
                    <a:solidFill>
                      <a:srgbClr val="F7F6F0"/>
                    </a:solidFill>
                  </a:tcPr>
                </a:tc>
              </a:tr>
              <a:tr h="571500">
                <a:tc>
                  <a:txBody>
                    <a:bodyPr/>
                    <a:lstStyle/>
                    <a:p>
                      <a:r>
                        <a:rPr sz="2100" b="1">
                          <a:solidFill>
                            <a:srgbClr val="CC5A34"/>
                          </a:solidFill>
                          <a:latin typeface="Helvetica Neue"/>
                          <a:ea typeface="Helvetica Neue"/>
                          <a:cs typeface="Helvetica Neue"/>
                        </a:rPr>
                        <a:t>Claude Opus 5.5</a:t>
                      </a:r>
                    </a:p>
                  </a:txBody>
                  <a:tcPr marL="91440" marR="91440" marT="45720" marB="45720">
                    <a:solidFill>
                      <a:srgbClr val="F7F6F0"/>
                    </a:solidFill>
                  </a:tcPr>
                </a:tc>
                <a:tc>
                  <a:txBody>
                    <a:bodyPr/>
                    <a:lstStyle/>
                    <a:p>
                      <a:r>
                        <a:rPr sz="2100" b="1">
                          <a:solidFill>
                            <a:srgbClr val="CC5A34"/>
                          </a:solidFill>
                          <a:latin typeface="Helvetica Neue"/>
                          <a:ea typeface="Helvetica Neue"/>
                          <a:cs typeface="Helvetica Neue"/>
                        </a:rPr>
                        <a:t>100%</a:t>
                      </a:r>
                    </a:p>
                  </a:txBody>
                  <a:tcPr marL="91440" marR="91440" marT="45720" marB="45720">
                    <a:solidFill>
                      <a:srgbClr val="F7F6F0"/>
                    </a:solidFill>
                  </a:tcPr>
                </a:tc>
                <a:tc>
                  <a:txBody>
                    <a:bodyPr/>
                    <a:lstStyle/>
                    <a:p>
                      <a:r>
                        <a:rPr sz="2100" b="1">
                          <a:solidFill>
                            <a:srgbClr val="CC5A34"/>
                          </a:solidFill>
                          <a:latin typeface="Helvetica Neue"/>
                          <a:ea typeface="Helvetica Neue"/>
                          <a:cs typeface="Helvetica Neue"/>
                        </a:rPr>
                        <a:t>84.5%</a:t>
                      </a:r>
                    </a:p>
                  </a:txBody>
                  <a:tcPr marL="91440" marR="91440" marT="45720" marB="45720">
                    <a:solidFill>
                      <a:srgbClr val="F7F6F0"/>
                    </a:solidFill>
                  </a:tcPr>
                </a:tc>
                <a:tc>
                  <a:txBody>
                    <a:bodyPr/>
                    <a:lstStyle/>
                    <a:p>
                      <a:r>
                        <a:rPr sz="2100" b="1">
                          <a:solidFill>
                            <a:srgbClr val="CC5A34"/>
                          </a:solidFill>
                          <a:latin typeface="Helvetica Neue"/>
                          <a:ea typeface="Helvetica Neue"/>
                          <a:cs typeface="Helvetica Neue"/>
                        </a:rPr>
                        <a:t>88%</a:t>
                      </a:r>
                    </a:p>
                  </a:txBody>
                  <a:tcPr marL="91440" marR="91440" marT="45720" marB="45720">
                    <a:solidFill>
                      <a:srgbClr val="F7F6F0"/>
                    </a:solidFill>
                  </a:tcPr>
                </a:tc>
              </a:tr>
            </a:tbl>
          </a:graphicData>
        </a:graphic>
      </p:graphicFrame>
      <p:sp>
        <p:nvSpPr>
          <p:cNvPr id="4" name="">
            <a:extLst xmlns:a="http://schemas.openxmlformats.org/drawingml/2006/main">
              <a:ext uri="{FF2B5EF4-FFF2-40B4-BE49-F238E27FC236}">
                <a16:creationId xmlns:a16="http://schemas.microsoft.com/office/drawing/2014/main" id="{E0156D63-DED1-4384-9015-C0015A1F5101}"/>
              </a:ext>
            </a:extLst>
          </p:cNvPr>
          <p:cNvSpPr>
            <a:spLocks xmlns:a="http://schemas.openxmlformats.org/drawingml/2006/main" noGrp="1"/>
          </p:cNvSpPr>
          <p:nvPr/>
        </p:nvSpPr>
        <p:spPr>
          <a:xfrm xmlns:a="http://schemas.openxmlformats.org/drawingml/2006/main">
            <a:off x="609600" y="53816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C5A34"/>
                </a:solidFill>
                <a:latin typeface="Helvetica Neue"/>
                <a:ea typeface="Helvetica Neue"/>
                <a:cs typeface="Helvetica Neue"/>
              </a:defRPr>
            </a:pPr>
            <a:r>
              <a:rPr sz="2250" b="1">
                <a:solidFill>
                  <a:srgbClr val="CC5A34"/>
                </a:solidFill>
                <a:latin typeface="Helvetica Neue"/>
                <a:ea typeface="Helvetica Neue"/>
                <a:cs typeface="Helvetica Neue"/>
              </a:rPr>
              <a:t>The scoring counts empty, content-filtered replies as flags.</a:t>
            </a:r>
          </a:p>
        </p:txBody>
      </p:sp>
      <p:sp>
        <p:nvSpPr>
          <p:cNvPr id="5" name="">
            <a:extLst xmlns:a="http://schemas.openxmlformats.org/drawingml/2006/main">
              <a:ext uri="{FF2B5EF4-FFF2-40B4-BE49-F238E27FC236}">
                <a16:creationId xmlns:a16="http://schemas.microsoft.com/office/drawing/2014/main" id="{7C6E6119-745F-4A60-AF42-417AC132F234}"/>
              </a:ext>
            </a:extLst>
          </p:cNvPr>
          <p:cNvSpPr>
            <a:spLocks xmlns:a="http://schemas.openxmlformats.org/drawingml/2006/main" noGrp="1"/>
          </p:cNvSpPr>
          <p:nvPr/>
        </p:nvSpPr>
        <p:spPr>
          <a:xfrm xmlns:a="http://schemas.openxmlformats.org/drawingml/2006/main">
            <a:off x="609600" y="6191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0"/>
                </a:solidFill>
                <a:latin typeface="Helvetica Neue"/>
                <a:ea typeface="Helvetica Neue"/>
                <a:cs typeface="Helvetica Neue"/>
              </a:defRPr>
            </a:pPr>
            <a:r>
              <a:rPr sz="1350" b="0">
                <a:solidFill>
                  <a:srgbClr val="536570"/>
                </a:solidFill>
                <a:latin typeface="Helvetica Neue"/>
                <a:ea typeface="Helvetica Neue"/>
                <a:cs typeface="Helvetica Neue"/>
              </a:rPr>
              <a:t>Offline detection does not prove prevention. Reference labels come from Sol. Empty-reply rates use all messages.</a:t>
            </a:r>
          </a:p>
        </p:txBody>
      </p:sp>
    </p:spTree>
    <p:extLst>
      <p:ext uri="{BB962C8B-B14F-4D97-AF65-F5344CB8AC3E}">
        <p14:creationId xmlns:p14="http://schemas.microsoft.com/office/powerpoint/2010/main" val="5871459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2026-10-05T00:48:42.9770000Z</dcterms:created>
  <dcterms:modified xsi:type="dcterms:W3CDTF">2026-10-05T00:48:42.9770000Z</dcterms:modified>
</coreProperties>
</file>